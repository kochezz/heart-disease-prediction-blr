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65" r:id="rId4"/>
    <p:sldId id="258" r:id="rId5"/>
    <p:sldId id="259" r:id="rId6"/>
    <p:sldId id="260" r:id="rId7"/>
    <p:sldId id="261" r:id="rId8"/>
    <p:sldId id="271" r:id="rId9"/>
    <p:sldId id="262" r:id="rId10"/>
    <p:sldId id="276" r:id="rId11"/>
    <p:sldId id="263" r:id="rId12"/>
    <p:sldId id="277" r:id="rId13"/>
    <p:sldId id="264" r:id="rId14"/>
    <p:sldId id="27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425E20A-024E-4A09-81E6-A70273E0AA31}" v="52" dt="2025-11-09T20:49:53.7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20" d="100"/>
          <a:sy n="120" d="100"/>
        </p:scale>
        <p:origin x="1818" y="1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78296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004DE-1780-3980-7663-5FD05AD41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1C2F91-1399-3AC1-08C2-D605F2CF72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654D60-C0A5-D17D-5B9F-91A091B3F3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6BAB7-8B67-8E7C-4539-CF7DC8FEBD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5697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81DA5-8A4B-3FBE-99CA-BD5906DAC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6E5648-E5A5-92EC-8C87-FC805E42C5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22FE17-93E6-49F2-E02C-3C32E8D586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2D87D8-7F6F-5A9B-2984-E17AC1EEF1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0033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4CE83-1529-4371-FDEC-8E04FCC6B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0E1329-3D96-504E-408C-ACBF17EE86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8FF278-D1F3-8FCA-FD45-C930FB0D58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0DBCD6-15B4-0B64-F63F-8A97BAE79A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038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6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hyperlink" Target="https://heathcare-analytics-heart-prediction.streamlit.app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5.png"/><Relationship Id="rId5" Type="http://schemas.openxmlformats.org/officeDocument/2006/relationships/image" Target="../media/image11.png"/><Relationship Id="rId10" Type="http://schemas.openxmlformats.org/officeDocument/2006/relationships/hyperlink" Target="https://github.com/kochezz/heart-disease-prediction-BLR" TargetMode="External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18" Type="http://schemas.openxmlformats.org/officeDocument/2006/relationships/image" Target="../media/image12.png"/><Relationship Id="rId3" Type="http://schemas.openxmlformats.org/officeDocument/2006/relationships/image" Target="../media/image9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17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1.png"/><Relationship Id="rId15" Type="http://schemas.openxmlformats.org/officeDocument/2006/relationships/image" Target="../media/image26.png"/><Relationship Id="rId10" Type="http://schemas.openxmlformats.org/officeDocument/2006/relationships/image" Target="../media/image21.png"/><Relationship Id="rId4" Type="http://schemas.openxmlformats.org/officeDocument/2006/relationships/image" Target="../media/image10.png"/><Relationship Id="rId9" Type="http://schemas.openxmlformats.org/officeDocument/2006/relationships/image" Target="../media/image20.png"/><Relationship Id="rId14" Type="http://schemas.openxmlformats.org/officeDocument/2006/relationships/image" Target="../media/image2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3" Type="http://schemas.openxmlformats.org/officeDocument/2006/relationships/image" Target="../media/image9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5" Type="http://schemas.openxmlformats.org/officeDocument/2006/relationships/image" Target="../media/image38.png"/><Relationship Id="rId10" Type="http://schemas.openxmlformats.org/officeDocument/2006/relationships/image" Target="../media/image33.png"/><Relationship Id="rId4" Type="http://schemas.openxmlformats.org/officeDocument/2006/relationships/image" Target="../media/image10.png"/><Relationship Id="rId9" Type="http://schemas.openxmlformats.org/officeDocument/2006/relationships/image" Target="../media/image32.png"/><Relationship Id="rId14" Type="http://schemas.openxmlformats.org/officeDocument/2006/relationships/image" Target="../media/image3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7.png"/><Relationship Id="rId3" Type="http://schemas.openxmlformats.org/officeDocument/2006/relationships/image" Target="../media/image9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9.png"/><Relationship Id="rId15" Type="http://schemas.openxmlformats.org/officeDocument/2006/relationships/image" Target="../media/image49.png"/><Relationship Id="rId10" Type="http://schemas.openxmlformats.org/officeDocument/2006/relationships/image" Target="../media/image44.png"/><Relationship Id="rId4" Type="http://schemas.openxmlformats.org/officeDocument/2006/relationships/image" Target="../media/image10.png"/><Relationship Id="rId9" Type="http://schemas.openxmlformats.org/officeDocument/2006/relationships/image" Target="../media/image43.png"/><Relationship Id="rId14" Type="http://schemas.openxmlformats.org/officeDocument/2006/relationships/image" Target="../media/image4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60.png"/><Relationship Id="rId18" Type="http://schemas.openxmlformats.org/officeDocument/2006/relationships/image" Target="../media/image65.png"/><Relationship Id="rId3" Type="http://schemas.openxmlformats.org/officeDocument/2006/relationships/image" Target="../media/image51.png"/><Relationship Id="rId7" Type="http://schemas.openxmlformats.org/officeDocument/2006/relationships/image" Target="../media/image54.png"/><Relationship Id="rId12" Type="http://schemas.openxmlformats.org/officeDocument/2006/relationships/image" Target="../media/image59.png"/><Relationship Id="rId17" Type="http://schemas.openxmlformats.org/officeDocument/2006/relationships/image" Target="../media/image64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6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11" Type="http://schemas.openxmlformats.org/officeDocument/2006/relationships/image" Target="../media/image58.png"/><Relationship Id="rId5" Type="http://schemas.openxmlformats.org/officeDocument/2006/relationships/image" Target="../media/image52.png"/><Relationship Id="rId15" Type="http://schemas.openxmlformats.org/officeDocument/2006/relationships/image" Target="../media/image62.png"/><Relationship Id="rId10" Type="http://schemas.openxmlformats.org/officeDocument/2006/relationships/image" Target="../media/image57.png"/><Relationship Id="rId4" Type="http://schemas.openxmlformats.org/officeDocument/2006/relationships/image" Target="../media/image10.png"/><Relationship Id="rId9" Type="http://schemas.openxmlformats.org/officeDocument/2006/relationships/image" Target="../media/image56.png"/><Relationship Id="rId14" Type="http://schemas.openxmlformats.org/officeDocument/2006/relationships/image" Target="../media/image6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66.pn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image" Target="../media/image81.png"/><Relationship Id="rId18" Type="http://schemas.openxmlformats.org/officeDocument/2006/relationships/image" Target="../media/image86.png"/><Relationship Id="rId26" Type="http://schemas.openxmlformats.org/officeDocument/2006/relationships/image" Target="../media/image94.png"/><Relationship Id="rId3" Type="http://schemas.openxmlformats.org/officeDocument/2006/relationships/image" Target="../media/image71.png"/><Relationship Id="rId21" Type="http://schemas.openxmlformats.org/officeDocument/2006/relationships/image" Target="../media/image89.pn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17" Type="http://schemas.openxmlformats.org/officeDocument/2006/relationships/image" Target="../media/image85.png"/><Relationship Id="rId25" Type="http://schemas.openxmlformats.org/officeDocument/2006/relationships/image" Target="../media/image93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84.png"/><Relationship Id="rId20" Type="http://schemas.openxmlformats.org/officeDocument/2006/relationships/image" Target="../media/image88.png"/><Relationship Id="rId29" Type="http://schemas.openxmlformats.org/officeDocument/2006/relationships/image" Target="../media/image9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24" Type="http://schemas.openxmlformats.org/officeDocument/2006/relationships/image" Target="../media/image92.png"/><Relationship Id="rId5" Type="http://schemas.openxmlformats.org/officeDocument/2006/relationships/image" Target="../media/image73.png"/><Relationship Id="rId15" Type="http://schemas.openxmlformats.org/officeDocument/2006/relationships/image" Target="../media/image83.png"/><Relationship Id="rId23" Type="http://schemas.openxmlformats.org/officeDocument/2006/relationships/image" Target="../media/image91.png"/><Relationship Id="rId28" Type="http://schemas.openxmlformats.org/officeDocument/2006/relationships/image" Target="../media/image96.png"/><Relationship Id="rId10" Type="http://schemas.openxmlformats.org/officeDocument/2006/relationships/image" Target="../media/image78.png"/><Relationship Id="rId19" Type="http://schemas.openxmlformats.org/officeDocument/2006/relationships/image" Target="../media/image87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Relationship Id="rId14" Type="http://schemas.openxmlformats.org/officeDocument/2006/relationships/image" Target="../media/image82.png"/><Relationship Id="rId22" Type="http://schemas.openxmlformats.org/officeDocument/2006/relationships/image" Target="../media/image90.png"/><Relationship Id="rId27" Type="http://schemas.openxmlformats.org/officeDocument/2006/relationships/image" Target="../media/image95.png"/><Relationship Id="rId30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13" Type="http://schemas.openxmlformats.org/officeDocument/2006/relationships/image" Target="../media/image28.png"/><Relationship Id="rId18" Type="http://schemas.openxmlformats.org/officeDocument/2006/relationships/image" Target="../media/image110.png"/><Relationship Id="rId3" Type="http://schemas.openxmlformats.org/officeDocument/2006/relationships/image" Target="../media/image98.png"/><Relationship Id="rId21" Type="http://schemas.openxmlformats.org/officeDocument/2006/relationships/image" Target="../media/image113.png"/><Relationship Id="rId7" Type="http://schemas.openxmlformats.org/officeDocument/2006/relationships/image" Target="../media/image100.png"/><Relationship Id="rId12" Type="http://schemas.openxmlformats.org/officeDocument/2006/relationships/image" Target="../media/image105.png"/><Relationship Id="rId17" Type="http://schemas.openxmlformats.org/officeDocument/2006/relationships/image" Target="../media/image109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08.png"/><Relationship Id="rId20" Type="http://schemas.openxmlformats.org/officeDocument/2006/relationships/image" Target="../media/image1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9.png"/><Relationship Id="rId11" Type="http://schemas.openxmlformats.org/officeDocument/2006/relationships/image" Target="../media/image104.png"/><Relationship Id="rId5" Type="http://schemas.openxmlformats.org/officeDocument/2006/relationships/image" Target="../media/image18.png"/><Relationship Id="rId15" Type="http://schemas.openxmlformats.org/officeDocument/2006/relationships/image" Target="../media/image107.png"/><Relationship Id="rId10" Type="http://schemas.openxmlformats.org/officeDocument/2006/relationships/image" Target="../media/image103.png"/><Relationship Id="rId19" Type="http://schemas.openxmlformats.org/officeDocument/2006/relationships/image" Target="../media/image111.png"/><Relationship Id="rId4" Type="http://schemas.openxmlformats.org/officeDocument/2006/relationships/image" Target="../media/image10.png"/><Relationship Id="rId9" Type="http://schemas.openxmlformats.org/officeDocument/2006/relationships/image" Target="../media/image102.png"/><Relationship Id="rId14" Type="http://schemas.openxmlformats.org/officeDocument/2006/relationships/image" Target="../media/image106.png"/><Relationship Id="rId22" Type="http://schemas.openxmlformats.org/officeDocument/2006/relationships/image" Target="../media/image11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png"/><Relationship Id="rId13" Type="http://schemas.openxmlformats.org/officeDocument/2006/relationships/image" Target="../media/image125.png"/><Relationship Id="rId18" Type="http://schemas.openxmlformats.org/officeDocument/2006/relationships/image" Target="../media/image129.png"/><Relationship Id="rId3" Type="http://schemas.openxmlformats.org/officeDocument/2006/relationships/image" Target="../media/image115.png"/><Relationship Id="rId21" Type="http://schemas.openxmlformats.org/officeDocument/2006/relationships/image" Target="../media/image131.png"/><Relationship Id="rId7" Type="http://schemas.openxmlformats.org/officeDocument/2006/relationships/image" Target="../media/image119.png"/><Relationship Id="rId12" Type="http://schemas.openxmlformats.org/officeDocument/2006/relationships/image" Target="../media/image124.png"/><Relationship Id="rId17" Type="http://schemas.openxmlformats.org/officeDocument/2006/relationships/image" Target="../media/image128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127.png"/><Relationship Id="rId20" Type="http://schemas.openxmlformats.org/officeDocument/2006/relationships/image" Target="../media/image9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8.png"/><Relationship Id="rId11" Type="http://schemas.openxmlformats.org/officeDocument/2006/relationships/image" Target="../media/image123.png"/><Relationship Id="rId5" Type="http://schemas.openxmlformats.org/officeDocument/2006/relationships/image" Target="../media/image117.png"/><Relationship Id="rId15" Type="http://schemas.openxmlformats.org/officeDocument/2006/relationships/image" Target="../media/image77.png"/><Relationship Id="rId10" Type="http://schemas.openxmlformats.org/officeDocument/2006/relationships/image" Target="../media/image122.png"/><Relationship Id="rId19" Type="http://schemas.openxmlformats.org/officeDocument/2006/relationships/image" Target="../media/image130.png"/><Relationship Id="rId4" Type="http://schemas.openxmlformats.org/officeDocument/2006/relationships/image" Target="../media/image116.png"/><Relationship Id="rId9" Type="http://schemas.openxmlformats.org/officeDocument/2006/relationships/image" Target="../media/image121.png"/><Relationship Id="rId14" Type="http://schemas.openxmlformats.org/officeDocument/2006/relationships/image" Target="../media/image126.png"/><Relationship Id="rId22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9.png"/><Relationship Id="rId7" Type="http://schemas.openxmlformats.org/officeDocument/2006/relationships/image" Target="../media/image133.png"/><Relationship Id="rId12" Type="http://schemas.openxmlformats.org/officeDocument/2006/relationships/image" Target="../media/image13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2.png"/><Relationship Id="rId11" Type="http://schemas.openxmlformats.org/officeDocument/2006/relationships/image" Target="../media/image137.png"/><Relationship Id="rId5" Type="http://schemas.openxmlformats.org/officeDocument/2006/relationships/image" Target="../media/image104.png"/><Relationship Id="rId10" Type="http://schemas.openxmlformats.org/officeDocument/2006/relationships/image" Target="../media/image136.png"/><Relationship Id="rId4" Type="http://schemas.openxmlformats.org/officeDocument/2006/relationships/image" Target="../media/image10.png"/><Relationship Id="rId9" Type="http://schemas.openxmlformats.org/officeDocument/2006/relationships/image" Target="../media/image13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3.png"/><Relationship Id="rId13" Type="http://schemas.openxmlformats.org/officeDocument/2006/relationships/image" Target="../media/image148.png"/><Relationship Id="rId18" Type="http://schemas.openxmlformats.org/officeDocument/2006/relationships/image" Target="../media/image152.png"/><Relationship Id="rId26" Type="http://schemas.openxmlformats.org/officeDocument/2006/relationships/image" Target="../media/image160.png"/><Relationship Id="rId3" Type="http://schemas.openxmlformats.org/officeDocument/2006/relationships/image" Target="../media/image9.png"/><Relationship Id="rId21" Type="http://schemas.openxmlformats.org/officeDocument/2006/relationships/image" Target="../media/image155.png"/><Relationship Id="rId7" Type="http://schemas.openxmlformats.org/officeDocument/2006/relationships/image" Target="../media/image142.png"/><Relationship Id="rId12" Type="http://schemas.openxmlformats.org/officeDocument/2006/relationships/image" Target="../media/image147.png"/><Relationship Id="rId17" Type="http://schemas.openxmlformats.org/officeDocument/2006/relationships/image" Target="../media/image151.png"/><Relationship Id="rId25" Type="http://schemas.openxmlformats.org/officeDocument/2006/relationships/image" Target="../media/image159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150.png"/><Relationship Id="rId20" Type="http://schemas.openxmlformats.org/officeDocument/2006/relationships/image" Target="../media/image154.png"/><Relationship Id="rId29" Type="http://schemas.openxmlformats.org/officeDocument/2006/relationships/image" Target="../media/image16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1.png"/><Relationship Id="rId11" Type="http://schemas.openxmlformats.org/officeDocument/2006/relationships/image" Target="../media/image146.png"/><Relationship Id="rId24" Type="http://schemas.openxmlformats.org/officeDocument/2006/relationships/image" Target="../media/image158.png"/><Relationship Id="rId5" Type="http://schemas.openxmlformats.org/officeDocument/2006/relationships/image" Target="../media/image140.png"/><Relationship Id="rId15" Type="http://schemas.openxmlformats.org/officeDocument/2006/relationships/image" Target="../media/image149.png"/><Relationship Id="rId23" Type="http://schemas.openxmlformats.org/officeDocument/2006/relationships/image" Target="../media/image157.png"/><Relationship Id="rId28" Type="http://schemas.openxmlformats.org/officeDocument/2006/relationships/image" Target="../media/image162.png"/><Relationship Id="rId10" Type="http://schemas.openxmlformats.org/officeDocument/2006/relationships/image" Target="../media/image145.png"/><Relationship Id="rId19" Type="http://schemas.openxmlformats.org/officeDocument/2006/relationships/image" Target="../media/image153.png"/><Relationship Id="rId31" Type="http://schemas.openxmlformats.org/officeDocument/2006/relationships/image" Target="../media/image165.png"/><Relationship Id="rId4" Type="http://schemas.openxmlformats.org/officeDocument/2006/relationships/image" Target="../media/image10.png"/><Relationship Id="rId9" Type="http://schemas.openxmlformats.org/officeDocument/2006/relationships/image" Target="../media/image144.png"/><Relationship Id="rId14" Type="http://schemas.openxmlformats.org/officeDocument/2006/relationships/image" Target="../media/image104.png"/><Relationship Id="rId22" Type="http://schemas.openxmlformats.org/officeDocument/2006/relationships/image" Target="../media/image156.png"/><Relationship Id="rId27" Type="http://schemas.openxmlformats.org/officeDocument/2006/relationships/image" Target="../media/image161.png"/><Relationship Id="rId30" Type="http://schemas.openxmlformats.org/officeDocument/2006/relationships/image" Target="../media/image16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heathcare-analytics-heart-prediction.streamlit.app/" TargetMode="External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66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heart with a pulse line&#10;&#10;AI-generated content may be incorrect.">
            <a:extLst>
              <a:ext uri="{FF2B5EF4-FFF2-40B4-BE49-F238E27FC236}">
                <a16:creationId xmlns:a16="http://schemas.microsoft.com/office/drawing/2014/main" id="{75F43065-FBD9-1304-031E-A3B850F0E39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63" b="2897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06630" y="3058709"/>
            <a:ext cx="152400" cy="17145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5300" y="3058709"/>
            <a:ext cx="190500" cy="17145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13034" y="3058709"/>
            <a:ext cx="171450" cy="171450"/>
          </a:xfrm>
          <a:prstGeom prst="rect">
            <a:avLst/>
          </a:prstGeom>
        </p:spPr>
      </p:pic>
      <p:sp>
        <p:nvSpPr>
          <p:cNvPr id="26" name="Text 1"/>
          <p:cNvSpPr/>
          <p:nvPr/>
        </p:nvSpPr>
        <p:spPr>
          <a:xfrm>
            <a:off x="1285949" y="2419350"/>
            <a:ext cx="9619952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4500"/>
              </a:lnSpc>
              <a:buNone/>
            </a:pPr>
            <a:r>
              <a:rPr lang="en-US" sz="4500" b="1" dirty="0">
                <a:solidFill>
                  <a:srgbClr val="000000">
                    <a:alpha val="0"/>
                  </a:srgbClr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Heart Disease Prediction</a:t>
            </a:r>
            <a:endParaRPr lang="en-US" sz="4500" dirty="0"/>
          </a:p>
        </p:txBody>
      </p:sp>
      <p:sp>
        <p:nvSpPr>
          <p:cNvPr id="27" name="Text 2"/>
          <p:cNvSpPr/>
          <p:nvPr/>
        </p:nvSpPr>
        <p:spPr>
          <a:xfrm>
            <a:off x="1681413" y="1967654"/>
            <a:ext cx="8220576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dirty="0">
                <a:solidFill>
                  <a:schemeClr val="accent1">
                    <a:lumMod val="50000"/>
                  </a:schemeClr>
                </a:solidFill>
                <a:latin typeface="LEMON MILK Medium" panose="00000600000000000000" pitchFamily="50" charset="0"/>
                <a:ea typeface="ui-sans-serif" pitchFamily="34" charset="-122"/>
                <a:cs typeface="ui-sans-serif" pitchFamily="34" charset="-120"/>
              </a:rPr>
              <a:t>A comprehensive analysis of demographic, behavioral, and medical history factors associated with heart disease risk</a:t>
            </a:r>
            <a:endParaRPr lang="en-US" sz="1800" dirty="0">
              <a:solidFill>
                <a:schemeClr val="accent1">
                  <a:lumMod val="50000"/>
                </a:schemeClr>
              </a:solidFill>
              <a:latin typeface="LEMON MILK Medium" panose="00000600000000000000" pitchFamily="50" charset="0"/>
            </a:endParaRPr>
          </a:p>
        </p:txBody>
      </p:sp>
      <p:sp>
        <p:nvSpPr>
          <p:cNvPr id="28" name="Text 3"/>
          <p:cNvSpPr/>
          <p:nvPr/>
        </p:nvSpPr>
        <p:spPr>
          <a:xfrm>
            <a:off x="2990703" y="3011084"/>
            <a:ext cx="1734324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dirty="0">
                <a:solidFill>
                  <a:schemeClr val="tx1">
                    <a:lumMod val="75000"/>
                    <a:lumOff val="25000"/>
                  </a:schemeClr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319,795 Records</a:t>
            </a:r>
            <a:endParaRPr lang="en-US" sz="13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9" name="Text 4"/>
          <p:cNvSpPr/>
          <p:nvPr/>
        </p:nvSpPr>
        <p:spPr>
          <a:xfrm>
            <a:off x="5046377" y="3011084"/>
            <a:ext cx="12674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dirty="0">
                <a:solidFill>
                  <a:schemeClr val="tx1">
                    <a:lumMod val="75000"/>
                    <a:lumOff val="25000"/>
                  </a:schemeClr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19 Variables</a:t>
            </a:r>
            <a:endParaRPr lang="en-US" sz="13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0" name="Text 5"/>
          <p:cNvSpPr/>
          <p:nvPr/>
        </p:nvSpPr>
        <p:spPr>
          <a:xfrm>
            <a:off x="6406260" y="3011084"/>
            <a:ext cx="2231708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dirty="0">
                <a:solidFill>
                  <a:schemeClr val="tx1">
                    <a:lumMod val="75000"/>
                    <a:lumOff val="25000"/>
                  </a:schemeClr>
                </a:solidFill>
                <a:latin typeface="ui-sans-serif" pitchFamily="34" charset="0"/>
                <a:ea typeface="ui-sans-serif" pitchFamily="34" charset="-122"/>
              </a:rPr>
              <a:t>Machine Learning</a:t>
            </a:r>
            <a:endParaRPr lang="en-US" sz="13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35" name="Picture 34" descr="A blue and yellow snake logo&#10;&#10;AI-generated content may be incorrect.">
            <a:extLst>
              <a:ext uri="{FF2B5EF4-FFF2-40B4-BE49-F238E27FC236}">
                <a16:creationId xmlns:a16="http://schemas.microsoft.com/office/drawing/2014/main" id="{96A0847D-19A8-20D8-AA9F-DB19437BE44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362292" y="310609"/>
            <a:ext cx="711317" cy="711317"/>
          </a:xfrm>
          <a:prstGeom prst="rect">
            <a:avLst/>
          </a:prstGeom>
        </p:spPr>
      </p:pic>
      <p:sp>
        <p:nvSpPr>
          <p:cNvPr id="36" name="Rectangle 1">
            <a:extLst>
              <a:ext uri="{FF2B5EF4-FFF2-40B4-BE49-F238E27FC236}">
                <a16:creationId xmlns:a16="http://schemas.microsoft.com/office/drawing/2014/main" id="{B2FCE29F-7477-AF93-B19F-8928266C5D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E109FA-2EB4-B3C2-A8ED-B334E08921D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391" y="189990"/>
            <a:ext cx="1734324" cy="109990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7F5D3840-C256-4370-C999-F87F7C3B84B1}"/>
              </a:ext>
            </a:extLst>
          </p:cNvPr>
          <p:cNvSpPr/>
          <p:nvPr/>
        </p:nvSpPr>
        <p:spPr>
          <a:xfrm>
            <a:off x="3059030" y="1205653"/>
            <a:ext cx="5632105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3200" b="1" u="sng" dirty="0">
                <a:solidFill>
                  <a:schemeClr val="tx1">
                    <a:lumMod val="85000"/>
                    <a:lumOff val="15000"/>
                  </a:schemeClr>
                </a:solidFill>
                <a:latin typeface="Century Gothic" panose="020B0502020202020204" pitchFamily="34" charset="0"/>
                <a:ea typeface="ui-sans-serif" pitchFamily="34" charset="-122"/>
                <a:cs typeface="ui-sans-serif" pitchFamily="34" charset="-120"/>
              </a:rPr>
              <a:t>CAPSTONE PROJECT REPORT</a:t>
            </a:r>
            <a:endParaRPr lang="en-US" sz="3200" b="1" u="sng" dirty="0">
              <a:solidFill>
                <a:schemeClr val="tx1">
                  <a:lumMod val="85000"/>
                  <a:lumOff val="1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AB0BB6-3659-4533-71E6-684EF6C06FCA}"/>
              </a:ext>
            </a:extLst>
          </p:cNvPr>
          <p:cNvSpPr txBox="1"/>
          <p:nvPr/>
        </p:nvSpPr>
        <p:spPr>
          <a:xfrm>
            <a:off x="24064" y="5568103"/>
            <a:ext cx="270710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u="sng" dirty="0">
                <a:latin typeface="Century Gothic" panose="020B0502020202020204" pitchFamily="34" charset="0"/>
              </a:rPr>
              <a:t>Prepared By</a:t>
            </a:r>
          </a:p>
          <a:p>
            <a:endParaRPr lang="en-GB" sz="1400" dirty="0">
              <a:latin typeface="Century Gothic" panose="020B0502020202020204" pitchFamily="34" charset="0"/>
            </a:endParaRPr>
          </a:p>
          <a:p>
            <a:r>
              <a:rPr lang="en-GB" sz="1400" b="1" dirty="0">
                <a:latin typeface="Century Gothic" panose="020B0502020202020204" pitchFamily="34" charset="0"/>
              </a:rPr>
              <a:t>William C. Phiri</a:t>
            </a:r>
          </a:p>
          <a:p>
            <a:r>
              <a:rPr lang="en-GB" sz="1400" dirty="0">
                <a:latin typeface="Century Gothic" panose="020B0502020202020204" pitchFamily="34" charset="0"/>
              </a:rPr>
              <a:t>PG Dip in  Data Science</a:t>
            </a:r>
          </a:p>
          <a:p>
            <a:r>
              <a:rPr lang="en-GB" sz="1400" dirty="0">
                <a:latin typeface="Century Gothic" panose="020B0502020202020204" pitchFamily="34" charset="0"/>
              </a:rPr>
              <a:t>Student No. </a:t>
            </a:r>
            <a:r>
              <a:rPr lang="en-GB" sz="1400" b="1" dirty="0">
                <a:latin typeface="Century Gothic" panose="020B0502020202020204" pitchFamily="34" charset="0"/>
              </a:rPr>
              <a:t>4295158639</a:t>
            </a:r>
            <a:endParaRPr lang="en-IE" sz="1400" b="1" dirty="0">
              <a:latin typeface="Century Gothic" panose="020B0502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09650"/>
            <a:ext cx="228600" cy="2286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33980" y="3848100"/>
            <a:ext cx="1762720" cy="762000"/>
          </a:xfrm>
          <a:prstGeom prst="rect">
            <a:avLst/>
          </a:prstGeom>
        </p:spPr>
      </p:pic>
      <p:sp>
        <p:nvSpPr>
          <p:cNvPr id="18" name="Text 0"/>
          <p:cNvSpPr/>
          <p:nvPr/>
        </p:nvSpPr>
        <p:spPr>
          <a:xfrm>
            <a:off x="381000" y="161925"/>
            <a:ext cx="715982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sz="225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</a:rPr>
              <a:t>1.0 </a:t>
            </a:r>
            <a:r>
              <a:rPr lang="en-IE" sz="2400" b="1" dirty="0">
                <a:solidFill>
                  <a:srgbClr val="F9FAFB"/>
                </a:solidFill>
                <a:effectLst/>
                <a:latin typeface="Avenir Next LT Pro Demi" panose="020B0704020202020204" pitchFamily="34" charset="0"/>
              </a:rPr>
              <a:t>Executive Summary</a:t>
            </a:r>
          </a:p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</a:rPr>
              <a:t>  </a:t>
            </a:r>
            <a:endParaRPr lang="en-US" sz="2250" dirty="0">
              <a:latin typeface="Avenir Next LT Pro Demi" panose="020B0704020202020204" pitchFamily="34" charset="0"/>
            </a:endParaRPr>
          </a:p>
        </p:txBody>
      </p:sp>
      <p:sp>
        <p:nvSpPr>
          <p:cNvPr id="19" name="Text 1"/>
          <p:cNvSpPr/>
          <p:nvPr/>
        </p:nvSpPr>
        <p:spPr>
          <a:xfrm>
            <a:off x="10848975" y="200025"/>
            <a:ext cx="11544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2 of 14</a:t>
            </a:r>
            <a:endParaRPr lang="en-US" sz="1350" dirty="0"/>
          </a:p>
        </p:txBody>
      </p:sp>
      <p:sp>
        <p:nvSpPr>
          <p:cNvPr id="20" name="Text 2"/>
          <p:cNvSpPr/>
          <p:nvPr/>
        </p:nvSpPr>
        <p:spPr>
          <a:xfrm>
            <a:off x="647700" y="971550"/>
            <a:ext cx="5562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Preamble</a:t>
            </a:r>
            <a:endParaRPr lang="en-US" sz="1800" dirty="0"/>
          </a:p>
        </p:txBody>
      </p:sp>
      <p:pic>
        <p:nvPicPr>
          <p:cNvPr id="47" name="Image 13" descr="preencoded.png">
            <a:extLst>
              <a:ext uri="{FF2B5EF4-FFF2-40B4-BE49-F238E27FC236}">
                <a16:creationId xmlns:a16="http://schemas.microsoft.com/office/drawing/2014/main" id="{EEE4FADB-6F13-94A3-7104-08E1D86DD2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117" y="1379120"/>
            <a:ext cx="6926566" cy="5316955"/>
          </a:xfrm>
          <a:prstGeom prst="rect">
            <a:avLst/>
          </a:prstGeom>
        </p:spPr>
      </p:pic>
      <p:sp>
        <p:nvSpPr>
          <p:cNvPr id="21" name="Text 3"/>
          <p:cNvSpPr/>
          <p:nvPr/>
        </p:nvSpPr>
        <p:spPr>
          <a:xfrm>
            <a:off x="304800" y="1390649"/>
            <a:ext cx="6553200" cy="48657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400" b="0" i="0" dirty="0">
                <a:effectLst/>
                <a:latin typeface="quote-cjk-patch"/>
              </a:rPr>
              <a:t>This project undertook a comprehensive analysis of factors associated with heart disease, leveraging a substantial dataset of 319,795 individuals from the CDC's Behavioural Risk Factor Surveillance System (BRFSS). The analysis progressed through four distinct phases: </a:t>
            </a:r>
            <a:r>
              <a:rPr lang="en-GB" sz="1400" b="1" i="0" dirty="0">
                <a:effectLst/>
                <a:latin typeface="quote-cjk-patch"/>
              </a:rPr>
              <a:t>Data Management, Exploratory Data Analysis (EDA), Binary Logistic Regression Modelling, and Machine Learning Comparison.</a:t>
            </a:r>
            <a:endParaRPr lang="en-GB" sz="1400" b="0" i="0" dirty="0">
              <a:effectLst/>
              <a:latin typeface="quote-cjk-patch"/>
            </a:endParaRPr>
          </a:p>
          <a:p>
            <a:pPr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400" b="0" i="0" dirty="0">
                <a:effectLst/>
                <a:latin typeface="quote-cjk-patch"/>
              </a:rPr>
              <a:t>The EDA revealed powerful associations, identifying </a:t>
            </a:r>
            <a:r>
              <a:rPr lang="en-GB" sz="1400" b="1" i="0" dirty="0">
                <a:effectLst/>
                <a:latin typeface="quote-cjk-patch"/>
              </a:rPr>
              <a:t>Stroke History (4.9x higher risk), Diabetes (3.2x higher risk), and Difficulty Walking (3.6x higher risk)</a:t>
            </a:r>
            <a:r>
              <a:rPr lang="en-GB" sz="1400" b="0" i="0" dirty="0">
                <a:effectLst/>
                <a:latin typeface="quote-cjk-patch"/>
              </a:rPr>
              <a:t> as the most significant risk factors. A robust predictive framework was developed, with the </a:t>
            </a:r>
            <a:r>
              <a:rPr lang="en-GB" sz="1400" b="1" i="0" dirty="0">
                <a:effectLst/>
                <a:latin typeface="quote-cjk-patch"/>
              </a:rPr>
              <a:t>Random Forest model</a:t>
            </a:r>
            <a:r>
              <a:rPr lang="en-GB" sz="1400" b="0" i="0" dirty="0">
                <a:effectLst/>
                <a:latin typeface="quote-cjk-patch"/>
              </a:rPr>
              <a:t> emerging as the best performer, achieving a </a:t>
            </a:r>
            <a:r>
              <a:rPr lang="en-GB" sz="1400" b="1" i="0" dirty="0">
                <a:effectLst/>
                <a:latin typeface="quote-cjk-patch"/>
              </a:rPr>
              <a:t>Test AUC of 0.8269</a:t>
            </a:r>
            <a:r>
              <a:rPr lang="en-GB" sz="1400" b="0" i="0" dirty="0">
                <a:effectLst/>
                <a:latin typeface="quote-cjk-patch"/>
              </a:rPr>
              <a:t> and an </a:t>
            </a:r>
            <a:r>
              <a:rPr lang="en-GB" sz="1400" b="1" i="0" dirty="0">
                <a:effectLst/>
                <a:latin typeface="quote-cjk-patch"/>
              </a:rPr>
              <a:t>Accuracy of 91.56%</a:t>
            </a:r>
            <a:r>
              <a:rPr lang="en-GB" sz="1400" b="0" i="0" dirty="0">
                <a:effectLst/>
                <a:latin typeface="quote-cjk-patch"/>
              </a:rPr>
              <a:t>. The Binary Logistic Regression model provided strong interpretability, confirming the EDA findings with statistically significant odds ratios.</a:t>
            </a:r>
          </a:p>
          <a:p>
            <a:pPr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400" b="0" i="0" dirty="0">
                <a:effectLst/>
                <a:latin typeface="quote-cjk-patch"/>
              </a:rPr>
              <a:t>The project was executed using python and all the necessary associated libraries.</a:t>
            </a:r>
          </a:p>
        </p:txBody>
      </p:sp>
      <p:pic>
        <p:nvPicPr>
          <p:cNvPr id="5" name="Image 13" descr="preencoded.png">
            <a:extLst>
              <a:ext uri="{FF2B5EF4-FFF2-40B4-BE49-F238E27FC236}">
                <a16:creationId xmlns:a16="http://schemas.microsoft.com/office/drawing/2014/main" id="{8F220AEF-F873-76DB-8644-28C6935A5B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93117" y="1415214"/>
            <a:ext cx="4710288" cy="5280861"/>
          </a:xfrm>
          <a:prstGeom prst="rect">
            <a:avLst/>
          </a:prstGeom>
        </p:spPr>
      </p:pic>
      <p:sp>
        <p:nvSpPr>
          <p:cNvPr id="9" name="Rectangle: Top Corners Rounded 8">
            <a:extLst>
              <a:ext uri="{FF2B5EF4-FFF2-40B4-BE49-F238E27FC236}">
                <a16:creationId xmlns:a16="http://schemas.microsoft.com/office/drawing/2014/main" id="{7425B61C-72CE-B497-CCA4-76377C0D019C}"/>
              </a:ext>
            </a:extLst>
          </p:cNvPr>
          <p:cNvSpPr/>
          <p:nvPr/>
        </p:nvSpPr>
        <p:spPr>
          <a:xfrm>
            <a:off x="7293117" y="1415214"/>
            <a:ext cx="4710288" cy="870786"/>
          </a:xfrm>
          <a:prstGeom prst="round2Same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A413D6-45F3-42E0-B0A6-15D12A226E1F}"/>
              </a:ext>
            </a:extLst>
          </p:cNvPr>
          <p:cNvSpPr txBox="1"/>
          <p:nvPr/>
        </p:nvSpPr>
        <p:spPr>
          <a:xfrm>
            <a:off x="8289757" y="1540037"/>
            <a:ext cx="329665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dirty="0">
                <a:solidFill>
                  <a:schemeClr val="bg1"/>
                </a:solidFill>
                <a:latin typeface="Century Gothic" panose="020B0502020202020204" pitchFamily="34" charset="0"/>
              </a:rPr>
              <a:t>TECH STACK</a:t>
            </a:r>
            <a:endParaRPr lang="en-IE" sz="32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9" descr="A blue and yellow snake logo&#10;&#10;AI-generated content may be incorrect.">
            <a:extLst>
              <a:ext uri="{FF2B5EF4-FFF2-40B4-BE49-F238E27FC236}">
                <a16:creationId xmlns:a16="http://schemas.microsoft.com/office/drawing/2014/main" id="{4AA31E97-A15A-31C3-115E-F036A9DBD7D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62546" y="3197520"/>
            <a:ext cx="1435917" cy="1435917"/>
          </a:xfrm>
          <a:prstGeom prst="rect">
            <a:avLst/>
          </a:prstGeom>
        </p:spPr>
      </p:pic>
      <p:pic>
        <p:nvPicPr>
          <p:cNvPr id="12" name="Picture 11" descr="A blue logo with a black background&#10;&#10;AI-generated content may be incorrect.">
            <a:extLst>
              <a:ext uri="{FF2B5EF4-FFF2-40B4-BE49-F238E27FC236}">
                <a16:creationId xmlns:a16="http://schemas.microsoft.com/office/drawing/2014/main" id="{1129F7E7-79A8-4C08-89C6-2483C74EDA8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98463" y="2610632"/>
            <a:ext cx="2412849" cy="1237468"/>
          </a:xfrm>
          <a:prstGeom prst="rect">
            <a:avLst/>
          </a:prstGeom>
        </p:spPr>
      </p:pic>
      <p:pic>
        <p:nvPicPr>
          <p:cNvPr id="14" name="Picture 13" descr="A logo of a cat&#10;&#10;AI-generated content may be incorrect.">
            <a:hlinkClick r:id="rId10"/>
            <a:extLst>
              <a:ext uri="{FF2B5EF4-FFF2-40B4-BE49-F238E27FC236}">
                <a16:creationId xmlns:a16="http://schemas.microsoft.com/office/drawing/2014/main" id="{1C05F94D-CDB2-C0AC-753A-68626A1388FF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17363" r="18533"/>
          <a:stretch>
            <a:fillRect/>
          </a:stretch>
        </p:blipFill>
        <p:spPr>
          <a:xfrm>
            <a:off x="8063749" y="5005264"/>
            <a:ext cx="1520596" cy="1328359"/>
          </a:xfrm>
          <a:prstGeom prst="rect">
            <a:avLst/>
          </a:prstGeom>
        </p:spPr>
      </p:pic>
      <p:pic>
        <p:nvPicPr>
          <p:cNvPr id="16" name="Picture 15" descr="A red paper boat with black text&#10;&#10;AI-generated content may be incorrect.">
            <a:hlinkClick r:id="rId12"/>
            <a:extLst>
              <a:ext uri="{FF2B5EF4-FFF2-40B4-BE49-F238E27FC236}">
                <a16:creationId xmlns:a16="http://schemas.microsoft.com/office/drawing/2014/main" id="{C1809525-2E29-393C-6900-27D0C29BECB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63251" y="4488786"/>
            <a:ext cx="2033449" cy="9496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B89FF-8BCC-5A53-E300-D2C01BAFD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F40516BD-215F-45E4-55FB-65996C8C51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80A4BEC8-4A91-336B-ED3E-D1DD887B29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79573DA1-B8B4-B49C-0EAA-51DA72C72B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09650"/>
            <a:ext cx="228600" cy="228600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3C8D7B25-AC4D-FB09-9DA1-00B67673D4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" y="2457450"/>
            <a:ext cx="200025" cy="22860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1DA5C98D-2623-6690-BE11-DAE834A030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" y="4514850"/>
            <a:ext cx="285750" cy="228600"/>
          </a:xfrm>
          <a:prstGeom prst="rect">
            <a:avLst/>
          </a:prstGeom>
        </p:spPr>
      </p:pic>
      <p:pic>
        <p:nvPicPr>
          <p:cNvPr id="7" name="Image 5" descr="preencoded.png">
            <a:extLst>
              <a:ext uri="{FF2B5EF4-FFF2-40B4-BE49-F238E27FC236}">
                <a16:creationId xmlns:a16="http://schemas.microsoft.com/office/drawing/2014/main" id="{74AED74E-C164-70F0-7B5C-F921CA748E2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24600" y="971550"/>
            <a:ext cx="2705100" cy="914400"/>
          </a:xfrm>
          <a:prstGeom prst="rect">
            <a:avLst/>
          </a:prstGeom>
        </p:spPr>
      </p:pic>
      <p:pic>
        <p:nvPicPr>
          <p:cNvPr id="8" name="Image 6" descr="preencoded.png">
            <a:extLst>
              <a:ext uri="{FF2B5EF4-FFF2-40B4-BE49-F238E27FC236}">
                <a16:creationId xmlns:a16="http://schemas.microsoft.com/office/drawing/2014/main" id="{96AD8A10-7074-893C-7504-246AFAA11C8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7000" y="1123950"/>
            <a:ext cx="285750" cy="304800"/>
          </a:xfrm>
          <a:prstGeom prst="rect">
            <a:avLst/>
          </a:prstGeom>
        </p:spPr>
      </p:pic>
      <p:pic>
        <p:nvPicPr>
          <p:cNvPr id="9" name="Image 7" descr="preencoded.png">
            <a:extLst>
              <a:ext uri="{FF2B5EF4-FFF2-40B4-BE49-F238E27FC236}">
                <a16:creationId xmlns:a16="http://schemas.microsoft.com/office/drawing/2014/main" id="{36C4293B-B526-A120-D7EB-D87B3D55863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82100" y="971550"/>
            <a:ext cx="2705100" cy="914400"/>
          </a:xfrm>
          <a:prstGeom prst="rect">
            <a:avLst/>
          </a:prstGeom>
        </p:spPr>
      </p:pic>
      <p:pic>
        <p:nvPicPr>
          <p:cNvPr id="10" name="Image 8" descr="preencoded.png">
            <a:extLst>
              <a:ext uri="{FF2B5EF4-FFF2-40B4-BE49-F238E27FC236}">
                <a16:creationId xmlns:a16="http://schemas.microsoft.com/office/drawing/2014/main" id="{3FBEA52D-4581-7F0D-68B8-7249E6D6005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34500" y="1123950"/>
            <a:ext cx="257175" cy="304800"/>
          </a:xfrm>
          <a:prstGeom prst="rect">
            <a:avLst/>
          </a:prstGeom>
        </p:spPr>
      </p:pic>
      <p:pic>
        <p:nvPicPr>
          <p:cNvPr id="11" name="Image 9" descr="preencoded.png">
            <a:extLst>
              <a:ext uri="{FF2B5EF4-FFF2-40B4-BE49-F238E27FC236}">
                <a16:creationId xmlns:a16="http://schemas.microsoft.com/office/drawing/2014/main" id="{3D68F4ED-B6D8-2252-4DBA-05296878CF4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24600" y="2038350"/>
            <a:ext cx="2705100" cy="914400"/>
          </a:xfrm>
          <a:prstGeom prst="rect">
            <a:avLst/>
          </a:prstGeom>
        </p:spPr>
      </p:pic>
      <p:pic>
        <p:nvPicPr>
          <p:cNvPr id="12" name="Image 10" descr="preencoded.png">
            <a:extLst>
              <a:ext uri="{FF2B5EF4-FFF2-40B4-BE49-F238E27FC236}">
                <a16:creationId xmlns:a16="http://schemas.microsoft.com/office/drawing/2014/main" id="{6AB49BB5-89C7-A7D1-E846-B0F3BE5F2F6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77000" y="2190750"/>
            <a:ext cx="142875" cy="304800"/>
          </a:xfrm>
          <a:prstGeom prst="rect">
            <a:avLst/>
          </a:prstGeom>
        </p:spPr>
      </p:pic>
      <p:pic>
        <p:nvPicPr>
          <p:cNvPr id="13" name="Image 11" descr="preencoded.png">
            <a:extLst>
              <a:ext uri="{FF2B5EF4-FFF2-40B4-BE49-F238E27FC236}">
                <a16:creationId xmlns:a16="http://schemas.microsoft.com/office/drawing/2014/main" id="{EAB41DA5-80EE-FFA8-6DFE-AC18DB0172F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82100" y="2038350"/>
            <a:ext cx="2705100" cy="914400"/>
          </a:xfrm>
          <a:prstGeom prst="rect">
            <a:avLst/>
          </a:prstGeom>
        </p:spPr>
      </p:pic>
      <p:pic>
        <p:nvPicPr>
          <p:cNvPr id="14" name="Image 12" descr="preencoded.png">
            <a:extLst>
              <a:ext uri="{FF2B5EF4-FFF2-40B4-BE49-F238E27FC236}">
                <a16:creationId xmlns:a16="http://schemas.microsoft.com/office/drawing/2014/main" id="{9E3025DE-836C-5C48-DCA3-91BD8826BFA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334500" y="2190750"/>
            <a:ext cx="228600" cy="3048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20522595-B5B7-E72C-ACC7-A046EB81F5C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24600" y="3181350"/>
            <a:ext cx="5562600" cy="1676400"/>
          </a:xfrm>
          <a:prstGeom prst="rect">
            <a:avLst/>
          </a:prstGeom>
        </p:spPr>
      </p:pic>
      <p:pic>
        <p:nvPicPr>
          <p:cNvPr id="16" name="Image 14" descr="preencoded.png">
            <a:extLst>
              <a:ext uri="{FF2B5EF4-FFF2-40B4-BE49-F238E27FC236}">
                <a16:creationId xmlns:a16="http://schemas.microsoft.com/office/drawing/2014/main" id="{EADA0A62-1A9F-04CB-2EDA-595FAFBDED93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515100" y="3409950"/>
            <a:ext cx="228600" cy="228600"/>
          </a:xfrm>
          <a:prstGeom prst="rect">
            <a:avLst/>
          </a:prstGeom>
        </p:spPr>
      </p:pic>
      <p:pic>
        <p:nvPicPr>
          <p:cNvPr id="17" name="Image 15" descr="preencoded.png">
            <a:extLst>
              <a:ext uri="{FF2B5EF4-FFF2-40B4-BE49-F238E27FC236}">
                <a16:creationId xmlns:a16="http://schemas.microsoft.com/office/drawing/2014/main" id="{92923120-0C53-C992-A4F2-024D43508B0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933980" y="3848100"/>
            <a:ext cx="1762720" cy="762000"/>
          </a:xfrm>
          <a:prstGeom prst="rect">
            <a:avLst/>
          </a:prstGeom>
        </p:spPr>
      </p:pic>
      <p:sp>
        <p:nvSpPr>
          <p:cNvPr id="18" name="Text 0">
            <a:extLst>
              <a:ext uri="{FF2B5EF4-FFF2-40B4-BE49-F238E27FC236}">
                <a16:creationId xmlns:a16="http://schemas.microsoft.com/office/drawing/2014/main" id="{6EFD7BD9-F832-E394-B1B9-F4A7BDC18B9A}"/>
              </a:ext>
            </a:extLst>
          </p:cNvPr>
          <p:cNvSpPr/>
          <p:nvPr/>
        </p:nvSpPr>
        <p:spPr>
          <a:xfrm>
            <a:off x="381000" y="161925"/>
            <a:ext cx="715982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chemeClr val="bg1"/>
                </a:solidFill>
                <a:latin typeface="Avenir Next LT Pro Demi" panose="020B0704020202020204" pitchFamily="34" charset="0"/>
                <a:ea typeface="ui-sans-serif" pitchFamily="34" charset="-122"/>
                <a:cs typeface="ui-sans-serif" pitchFamily="34" charset="-120"/>
              </a:rPr>
              <a:t>PHASE 1: </a:t>
            </a:r>
            <a:r>
              <a:rPr lang="en-IE" sz="2400" b="1" dirty="0">
                <a:solidFill>
                  <a:schemeClr val="bg1"/>
                </a:solidFill>
                <a:effectLst/>
                <a:latin typeface="Avenir Next LT Pro Demi" panose="020B07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Data Management &amp; Preliminary Analysis</a:t>
            </a:r>
            <a:endParaRPr lang="en-US" sz="2250" dirty="0">
              <a:solidFill>
                <a:schemeClr val="bg1"/>
              </a:solidFill>
              <a:latin typeface="Avenir Next LT Pro Demi" panose="020B0704020202020204" pitchFamily="34" charset="0"/>
            </a:endParaRPr>
          </a:p>
        </p:txBody>
      </p:sp>
      <p:sp>
        <p:nvSpPr>
          <p:cNvPr id="19" name="Text 1">
            <a:extLst>
              <a:ext uri="{FF2B5EF4-FFF2-40B4-BE49-F238E27FC236}">
                <a16:creationId xmlns:a16="http://schemas.microsoft.com/office/drawing/2014/main" id="{72E632D8-7D1A-AF05-A96F-1F16B8203A2D}"/>
              </a:ext>
            </a:extLst>
          </p:cNvPr>
          <p:cNvSpPr/>
          <p:nvPr/>
        </p:nvSpPr>
        <p:spPr>
          <a:xfrm>
            <a:off x="10848975" y="200025"/>
            <a:ext cx="11544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3 of 14</a:t>
            </a:r>
            <a:endParaRPr lang="en-US" sz="1350" dirty="0"/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A5F2A2EB-C1D4-D29A-07B1-853C784271BA}"/>
              </a:ext>
            </a:extLst>
          </p:cNvPr>
          <p:cNvSpPr/>
          <p:nvPr/>
        </p:nvSpPr>
        <p:spPr>
          <a:xfrm>
            <a:off x="647700" y="971550"/>
            <a:ext cx="5562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Project Objective</a:t>
            </a:r>
            <a:endParaRPr lang="en-US" sz="1800" dirty="0"/>
          </a:p>
        </p:txBody>
      </p:sp>
      <p:sp>
        <p:nvSpPr>
          <p:cNvPr id="21" name="Text 3">
            <a:extLst>
              <a:ext uri="{FF2B5EF4-FFF2-40B4-BE49-F238E27FC236}">
                <a16:creationId xmlns:a16="http://schemas.microsoft.com/office/drawing/2014/main" id="{944C3FD7-1221-3ADA-803A-7180A986064B}"/>
              </a:ext>
            </a:extLst>
          </p:cNvPr>
          <p:cNvSpPr/>
          <p:nvPr/>
        </p:nvSpPr>
        <p:spPr>
          <a:xfrm>
            <a:off x="304800" y="1390650"/>
            <a:ext cx="5562600" cy="800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Analyze factors associated with heart disease and develop a robust predictive model to understand risk factors and improve early intervention.</a:t>
            </a:r>
            <a:endParaRPr lang="en-US" sz="1350" dirty="0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55C467DA-8817-39AD-3BDE-0CED86CAA3E8}"/>
              </a:ext>
            </a:extLst>
          </p:cNvPr>
          <p:cNvSpPr/>
          <p:nvPr/>
        </p:nvSpPr>
        <p:spPr>
          <a:xfrm>
            <a:off x="619125" y="2419350"/>
            <a:ext cx="5562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Data Consolidation</a:t>
            </a:r>
            <a:endParaRPr lang="en-US" sz="1800" dirty="0"/>
          </a:p>
        </p:txBody>
      </p:sp>
      <p:sp>
        <p:nvSpPr>
          <p:cNvPr id="23" name="Text 5">
            <a:extLst>
              <a:ext uri="{FF2B5EF4-FFF2-40B4-BE49-F238E27FC236}">
                <a16:creationId xmlns:a16="http://schemas.microsoft.com/office/drawing/2014/main" id="{3CAF9B1C-0787-25A9-F6D2-0E9192232F61}"/>
              </a:ext>
            </a:extLst>
          </p:cNvPr>
          <p:cNvSpPr/>
          <p:nvPr/>
        </p:nvSpPr>
        <p:spPr>
          <a:xfrm>
            <a:off x="304800" y="2838450"/>
            <a:ext cx="6675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Four datasets merged using patient ID (</a:t>
            </a:r>
            <a:r>
              <a:rPr lang="en-US" sz="1350" b="1" dirty="0">
                <a:solidFill>
                  <a:srgbClr val="FFA07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pid</a:t>
            </a: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):</a:t>
            </a:r>
            <a:endParaRPr lang="en-US" sz="1350" dirty="0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CA83E9CF-0E84-1AAF-5C1B-0A48BA8E1FC9}"/>
              </a:ext>
            </a:extLst>
          </p:cNvPr>
          <p:cNvSpPr/>
          <p:nvPr/>
        </p:nvSpPr>
        <p:spPr>
          <a:xfrm>
            <a:off x="342900" y="3181350"/>
            <a:ext cx="662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Demographics (5 variables)</a:t>
            </a:r>
            <a:endParaRPr lang="en-US" sz="1350" dirty="0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19BC6812-D476-41EB-77B8-5E1150E2F820}"/>
              </a:ext>
            </a:extLst>
          </p:cNvPr>
          <p:cNvSpPr/>
          <p:nvPr/>
        </p:nvSpPr>
        <p:spPr>
          <a:xfrm>
            <a:off x="342900" y="3448050"/>
            <a:ext cx="55245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Behaviour (6 variables)</a:t>
            </a:r>
            <a:endParaRPr lang="en-US" sz="1350" dirty="0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49D89836-694A-28E9-A02B-BEDE9AC62328}"/>
              </a:ext>
            </a:extLst>
          </p:cNvPr>
          <p:cNvSpPr/>
          <p:nvPr/>
        </p:nvSpPr>
        <p:spPr>
          <a:xfrm>
            <a:off x="342900" y="3714750"/>
            <a:ext cx="662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Medical History (9 variables)</a:t>
            </a:r>
            <a:endParaRPr lang="en-US" sz="1350" dirty="0"/>
          </a:p>
        </p:txBody>
      </p:sp>
      <p:sp>
        <p:nvSpPr>
          <p:cNvPr id="27" name="Text 9">
            <a:extLst>
              <a:ext uri="{FF2B5EF4-FFF2-40B4-BE49-F238E27FC236}">
                <a16:creationId xmlns:a16="http://schemas.microsoft.com/office/drawing/2014/main" id="{84D2FA3D-32F3-16FA-74FC-A26534EFD1D0}"/>
              </a:ext>
            </a:extLst>
          </p:cNvPr>
          <p:cNvSpPr/>
          <p:nvPr/>
        </p:nvSpPr>
        <p:spPr>
          <a:xfrm>
            <a:off x="342900" y="3981450"/>
            <a:ext cx="662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Heart Disease (2 variables)</a:t>
            </a:r>
            <a:endParaRPr lang="en-US" sz="1350" dirty="0"/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DCF74AF4-0DE1-DC5E-66A9-31E119863ACF}"/>
              </a:ext>
            </a:extLst>
          </p:cNvPr>
          <p:cNvSpPr/>
          <p:nvPr/>
        </p:nvSpPr>
        <p:spPr>
          <a:xfrm>
            <a:off x="704850" y="4476750"/>
            <a:ext cx="5562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Feature Engineering</a:t>
            </a:r>
            <a:endParaRPr lang="en-US" sz="1800" dirty="0"/>
          </a:p>
        </p:txBody>
      </p:sp>
      <p:sp>
        <p:nvSpPr>
          <p:cNvPr id="29" name="Text 11">
            <a:extLst>
              <a:ext uri="{FF2B5EF4-FFF2-40B4-BE49-F238E27FC236}">
                <a16:creationId xmlns:a16="http://schemas.microsoft.com/office/drawing/2014/main" id="{34067D0A-FA96-5B1C-7E48-A772FA70C365}"/>
              </a:ext>
            </a:extLst>
          </p:cNvPr>
          <p:cNvSpPr/>
          <p:nvPr/>
        </p:nvSpPr>
        <p:spPr>
          <a:xfrm>
            <a:off x="342900" y="4895850"/>
            <a:ext cx="662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Binary recoding of 'Yes/No' variables</a:t>
            </a:r>
            <a:endParaRPr lang="en-US" sz="1350" dirty="0"/>
          </a:p>
        </p:txBody>
      </p:sp>
      <p:sp>
        <p:nvSpPr>
          <p:cNvPr id="30" name="Text 12">
            <a:extLst>
              <a:ext uri="{FF2B5EF4-FFF2-40B4-BE49-F238E27FC236}">
                <a16:creationId xmlns:a16="http://schemas.microsoft.com/office/drawing/2014/main" id="{FAC61222-0A62-91D3-C4BD-5C8E28ED1551}"/>
              </a:ext>
            </a:extLst>
          </p:cNvPr>
          <p:cNvSpPr/>
          <p:nvPr/>
        </p:nvSpPr>
        <p:spPr>
          <a:xfrm>
            <a:off x="342900" y="5162550"/>
            <a:ext cx="662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Ordinal encoding for age categories</a:t>
            </a:r>
            <a:endParaRPr lang="en-US" sz="1350" dirty="0"/>
          </a:p>
        </p:txBody>
      </p:sp>
      <p:sp>
        <p:nvSpPr>
          <p:cNvPr id="31" name="Text 13">
            <a:extLst>
              <a:ext uri="{FF2B5EF4-FFF2-40B4-BE49-F238E27FC236}">
                <a16:creationId xmlns:a16="http://schemas.microsoft.com/office/drawing/2014/main" id="{24B90CE1-1D29-A968-6563-8382903ACDA4}"/>
              </a:ext>
            </a:extLst>
          </p:cNvPr>
          <p:cNvSpPr/>
          <p:nvPr/>
        </p:nvSpPr>
        <p:spPr>
          <a:xfrm>
            <a:off x="342900" y="5429250"/>
            <a:ext cx="662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Categorical binning for BMI and sleep time</a:t>
            </a:r>
            <a:endParaRPr lang="en-US" sz="1350" dirty="0"/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DAA169D8-2E9F-E8F4-6658-8ED9E0FE7CC1}"/>
              </a:ext>
            </a:extLst>
          </p:cNvPr>
          <p:cNvSpPr/>
          <p:nvPr/>
        </p:nvSpPr>
        <p:spPr>
          <a:xfrm>
            <a:off x="342900" y="5695950"/>
            <a:ext cx="662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One-hot encoding for race variable</a:t>
            </a:r>
            <a:endParaRPr lang="en-US" sz="1350" dirty="0"/>
          </a:p>
        </p:txBody>
      </p:sp>
      <p:sp>
        <p:nvSpPr>
          <p:cNvPr id="33" name="Text 15">
            <a:extLst>
              <a:ext uri="{FF2B5EF4-FFF2-40B4-BE49-F238E27FC236}">
                <a16:creationId xmlns:a16="http://schemas.microsoft.com/office/drawing/2014/main" id="{1E118897-72A3-3120-5A70-13526333DD5B}"/>
              </a:ext>
            </a:extLst>
          </p:cNvPr>
          <p:cNvSpPr/>
          <p:nvPr/>
        </p:nvSpPr>
        <p:spPr>
          <a:xfrm>
            <a:off x="6877050" y="1143000"/>
            <a:ext cx="1847017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Demographics</a:t>
            </a:r>
            <a:endParaRPr lang="en-US" sz="1500" dirty="0"/>
          </a:p>
        </p:txBody>
      </p:sp>
      <p:sp>
        <p:nvSpPr>
          <p:cNvPr id="34" name="Text 16">
            <a:extLst>
              <a:ext uri="{FF2B5EF4-FFF2-40B4-BE49-F238E27FC236}">
                <a16:creationId xmlns:a16="http://schemas.microsoft.com/office/drawing/2014/main" id="{34B24840-0FE4-9577-579A-8D288F6D4530}"/>
              </a:ext>
            </a:extLst>
          </p:cNvPr>
          <p:cNvSpPr/>
          <p:nvPr/>
        </p:nvSpPr>
        <p:spPr>
          <a:xfrm>
            <a:off x="6477000" y="1504950"/>
            <a:ext cx="28803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5 variables, 319,795 records</a:t>
            </a:r>
            <a:endParaRPr lang="en-US" sz="1200" dirty="0"/>
          </a:p>
        </p:txBody>
      </p:sp>
      <p:sp>
        <p:nvSpPr>
          <p:cNvPr id="35" name="Text 17">
            <a:extLst>
              <a:ext uri="{FF2B5EF4-FFF2-40B4-BE49-F238E27FC236}">
                <a16:creationId xmlns:a16="http://schemas.microsoft.com/office/drawing/2014/main" id="{DA250422-0FC4-18AD-4570-F10193E24397}"/>
              </a:ext>
            </a:extLst>
          </p:cNvPr>
          <p:cNvSpPr/>
          <p:nvPr/>
        </p:nvSpPr>
        <p:spPr>
          <a:xfrm>
            <a:off x="9705975" y="1143000"/>
            <a:ext cx="2006144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Medical History</a:t>
            </a:r>
            <a:endParaRPr lang="en-US" sz="1500" dirty="0"/>
          </a:p>
        </p:txBody>
      </p:sp>
      <p:sp>
        <p:nvSpPr>
          <p:cNvPr id="36" name="Text 18">
            <a:extLst>
              <a:ext uri="{FF2B5EF4-FFF2-40B4-BE49-F238E27FC236}">
                <a16:creationId xmlns:a16="http://schemas.microsoft.com/office/drawing/2014/main" id="{AEE47792-D182-C762-97D2-A1E8B5DA660B}"/>
              </a:ext>
            </a:extLst>
          </p:cNvPr>
          <p:cNvSpPr/>
          <p:nvPr/>
        </p:nvSpPr>
        <p:spPr>
          <a:xfrm>
            <a:off x="9334500" y="1504950"/>
            <a:ext cx="28803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 variables, 319,795 records</a:t>
            </a:r>
            <a:endParaRPr lang="en-US" sz="1200" dirty="0"/>
          </a:p>
        </p:txBody>
      </p:sp>
      <p:sp>
        <p:nvSpPr>
          <p:cNvPr id="37" name="Text 19">
            <a:extLst>
              <a:ext uri="{FF2B5EF4-FFF2-40B4-BE49-F238E27FC236}">
                <a16:creationId xmlns:a16="http://schemas.microsoft.com/office/drawing/2014/main" id="{E05C7FFE-7894-0189-74FF-7182C87408DF}"/>
              </a:ext>
            </a:extLst>
          </p:cNvPr>
          <p:cNvSpPr/>
          <p:nvPr/>
        </p:nvSpPr>
        <p:spPr>
          <a:xfrm>
            <a:off x="6734175" y="2209800"/>
            <a:ext cx="130623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Behaviour</a:t>
            </a:r>
            <a:endParaRPr lang="en-US" sz="1500" dirty="0"/>
          </a:p>
        </p:txBody>
      </p:sp>
      <p:sp>
        <p:nvSpPr>
          <p:cNvPr id="38" name="Text 20">
            <a:extLst>
              <a:ext uri="{FF2B5EF4-FFF2-40B4-BE49-F238E27FC236}">
                <a16:creationId xmlns:a16="http://schemas.microsoft.com/office/drawing/2014/main" id="{4E6D121C-30D5-70C3-2D14-9E8D98A9D7F5}"/>
              </a:ext>
            </a:extLst>
          </p:cNvPr>
          <p:cNvSpPr/>
          <p:nvPr/>
        </p:nvSpPr>
        <p:spPr>
          <a:xfrm>
            <a:off x="6477000" y="2571750"/>
            <a:ext cx="28803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6 variables, 319,795 records</a:t>
            </a:r>
            <a:endParaRPr lang="en-US" sz="1200" dirty="0"/>
          </a:p>
        </p:txBody>
      </p:sp>
      <p:sp>
        <p:nvSpPr>
          <p:cNvPr id="39" name="Text 21">
            <a:extLst>
              <a:ext uri="{FF2B5EF4-FFF2-40B4-BE49-F238E27FC236}">
                <a16:creationId xmlns:a16="http://schemas.microsoft.com/office/drawing/2014/main" id="{15803840-09C1-418C-23C1-733BB3D874A8}"/>
              </a:ext>
            </a:extLst>
          </p:cNvPr>
          <p:cNvSpPr/>
          <p:nvPr/>
        </p:nvSpPr>
        <p:spPr>
          <a:xfrm>
            <a:off x="9677400" y="2209800"/>
            <a:ext cx="180683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Heart Disease</a:t>
            </a:r>
            <a:endParaRPr lang="en-US" sz="1500" dirty="0"/>
          </a:p>
        </p:txBody>
      </p:sp>
      <p:sp>
        <p:nvSpPr>
          <p:cNvPr id="40" name="Text 22">
            <a:extLst>
              <a:ext uri="{FF2B5EF4-FFF2-40B4-BE49-F238E27FC236}">
                <a16:creationId xmlns:a16="http://schemas.microsoft.com/office/drawing/2014/main" id="{EB8A5197-8043-B2A3-EB70-A06BA8DA253F}"/>
              </a:ext>
            </a:extLst>
          </p:cNvPr>
          <p:cNvSpPr/>
          <p:nvPr/>
        </p:nvSpPr>
        <p:spPr>
          <a:xfrm>
            <a:off x="9334500" y="2571750"/>
            <a:ext cx="28803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 variables, 319,795 records</a:t>
            </a:r>
            <a:endParaRPr lang="en-US" sz="1200" dirty="0"/>
          </a:p>
        </p:txBody>
      </p:sp>
      <p:sp>
        <p:nvSpPr>
          <p:cNvPr id="41" name="Text 23">
            <a:extLst>
              <a:ext uri="{FF2B5EF4-FFF2-40B4-BE49-F238E27FC236}">
                <a16:creationId xmlns:a16="http://schemas.microsoft.com/office/drawing/2014/main" id="{A2EC19DB-06B2-918D-6566-9686C229B9AC}"/>
              </a:ext>
            </a:extLst>
          </p:cNvPr>
          <p:cNvSpPr/>
          <p:nvPr/>
        </p:nvSpPr>
        <p:spPr>
          <a:xfrm>
            <a:off x="6858000" y="3371850"/>
            <a:ext cx="518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Final Dataset</a:t>
            </a:r>
            <a:endParaRPr lang="en-US" sz="1800" dirty="0"/>
          </a:p>
        </p:txBody>
      </p:sp>
      <p:sp>
        <p:nvSpPr>
          <p:cNvPr id="42" name="Text 24">
            <a:extLst>
              <a:ext uri="{FF2B5EF4-FFF2-40B4-BE49-F238E27FC236}">
                <a16:creationId xmlns:a16="http://schemas.microsoft.com/office/drawing/2014/main" id="{6555A79B-BFB6-946F-E5AC-C935240C5AE8}"/>
              </a:ext>
            </a:extLst>
          </p:cNvPr>
          <p:cNvSpPr/>
          <p:nvPr/>
        </p:nvSpPr>
        <p:spPr>
          <a:xfrm>
            <a:off x="6515100" y="3790950"/>
            <a:ext cx="232600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Records: </a:t>
            </a:r>
            <a:r>
              <a:rPr lang="en-US" sz="135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319,795</a:t>
            </a:r>
            <a:endParaRPr lang="en-US" sz="1350" dirty="0"/>
          </a:p>
        </p:txBody>
      </p:sp>
      <p:sp>
        <p:nvSpPr>
          <p:cNvPr id="43" name="Text 25">
            <a:extLst>
              <a:ext uri="{FF2B5EF4-FFF2-40B4-BE49-F238E27FC236}">
                <a16:creationId xmlns:a16="http://schemas.microsoft.com/office/drawing/2014/main" id="{E80A8598-CC2B-639C-C4E4-50CF6ED8309C}"/>
              </a:ext>
            </a:extLst>
          </p:cNvPr>
          <p:cNvSpPr/>
          <p:nvPr/>
        </p:nvSpPr>
        <p:spPr>
          <a:xfrm>
            <a:off x="6515100" y="4095750"/>
            <a:ext cx="232600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Variables: </a:t>
            </a:r>
            <a:r>
              <a:rPr lang="en-US" sz="135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19</a:t>
            </a:r>
            <a:endParaRPr lang="en-US" sz="1350" dirty="0"/>
          </a:p>
        </p:txBody>
      </p:sp>
      <p:sp>
        <p:nvSpPr>
          <p:cNvPr id="44" name="Text 26">
            <a:extLst>
              <a:ext uri="{FF2B5EF4-FFF2-40B4-BE49-F238E27FC236}">
                <a16:creationId xmlns:a16="http://schemas.microsoft.com/office/drawing/2014/main" id="{059899E2-ED0A-3E70-FE0F-3C23114D1A17}"/>
              </a:ext>
            </a:extLst>
          </p:cNvPr>
          <p:cNvSpPr/>
          <p:nvPr/>
        </p:nvSpPr>
        <p:spPr>
          <a:xfrm>
            <a:off x="6515100" y="4400550"/>
            <a:ext cx="232600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Target: </a:t>
            </a:r>
            <a:r>
              <a:rPr lang="en-US" sz="135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HeartDisease</a:t>
            </a:r>
            <a:endParaRPr lang="en-US" sz="1350" dirty="0"/>
          </a:p>
        </p:txBody>
      </p:sp>
      <p:sp>
        <p:nvSpPr>
          <p:cNvPr id="45" name="Text 27">
            <a:extLst>
              <a:ext uri="{FF2B5EF4-FFF2-40B4-BE49-F238E27FC236}">
                <a16:creationId xmlns:a16="http://schemas.microsoft.com/office/drawing/2014/main" id="{9BE57DA9-EFB5-EC7B-3113-89BE09628515}"/>
              </a:ext>
            </a:extLst>
          </p:cNvPr>
          <p:cNvSpPr/>
          <p:nvPr/>
        </p:nvSpPr>
        <p:spPr>
          <a:xfrm>
            <a:off x="10048280" y="3962400"/>
            <a:ext cx="1840944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Data Quality</a:t>
            </a:r>
            <a:endParaRPr lang="en-US" sz="1350" dirty="0"/>
          </a:p>
        </p:txBody>
      </p:sp>
      <p:sp>
        <p:nvSpPr>
          <p:cNvPr id="46" name="Text 28">
            <a:extLst>
              <a:ext uri="{FF2B5EF4-FFF2-40B4-BE49-F238E27FC236}">
                <a16:creationId xmlns:a16="http://schemas.microsoft.com/office/drawing/2014/main" id="{38F52A42-059E-2EBA-3749-4D3F2EC06E05}"/>
              </a:ext>
            </a:extLst>
          </p:cNvPr>
          <p:cNvSpPr/>
          <p:nvPr/>
        </p:nvSpPr>
        <p:spPr>
          <a:xfrm>
            <a:off x="10048280" y="4267200"/>
            <a:ext cx="184094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A34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Clean &amp; Complete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5981939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09650"/>
            <a:ext cx="257175" cy="2286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" y="1428750"/>
            <a:ext cx="5562600" cy="40576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" y="5638800"/>
            <a:ext cx="2705100" cy="914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2300" y="5638800"/>
            <a:ext cx="2705100" cy="914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24600" y="971550"/>
            <a:ext cx="5562600" cy="45720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0" y="1885950"/>
            <a:ext cx="5410200" cy="1295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10420" y="2527214"/>
            <a:ext cx="1524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77000" y="3409950"/>
            <a:ext cx="5410200" cy="2057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67500" y="3638550"/>
            <a:ext cx="190500" cy="190500"/>
          </a:xfrm>
          <a:prstGeom prst="rect">
            <a:avLst/>
          </a:prstGeom>
        </p:spPr>
      </p:pic>
      <p:sp>
        <p:nvSpPr>
          <p:cNvPr id="15" name="Text 0"/>
          <p:cNvSpPr/>
          <p:nvPr/>
        </p:nvSpPr>
        <p:spPr>
          <a:xfrm>
            <a:off x="381000" y="161925"/>
            <a:ext cx="8793778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  <a:cs typeface="ui-sans-serif" pitchFamily="34" charset="-120"/>
              </a:rPr>
              <a:t>P1 Cont/…</a:t>
            </a:r>
            <a:r>
              <a:rPr lang="en-US" sz="225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  <a:cs typeface="ui-sans-serif" pitchFamily="34" charset="-120"/>
              </a:rPr>
              <a:t>Heart Disease Distribution &amp; Class Imbalance</a:t>
            </a:r>
            <a:endParaRPr lang="en-US" sz="2250" dirty="0">
              <a:latin typeface="Avenir Next LT Pro Demi" panose="020B0704020202020204" pitchFamily="34" charset="0"/>
            </a:endParaRPr>
          </a:p>
        </p:txBody>
      </p:sp>
      <p:sp>
        <p:nvSpPr>
          <p:cNvPr id="16" name="Text 1"/>
          <p:cNvSpPr/>
          <p:nvPr/>
        </p:nvSpPr>
        <p:spPr>
          <a:xfrm>
            <a:off x="10848975" y="200025"/>
            <a:ext cx="11544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4 of 14</a:t>
            </a:r>
            <a:endParaRPr lang="en-US" sz="1350" dirty="0"/>
          </a:p>
        </p:txBody>
      </p:sp>
      <p:sp>
        <p:nvSpPr>
          <p:cNvPr id="17" name="Text 2"/>
          <p:cNvSpPr/>
          <p:nvPr/>
        </p:nvSpPr>
        <p:spPr>
          <a:xfrm>
            <a:off x="676275" y="971550"/>
            <a:ext cx="667512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Heart Disease Distribution</a:t>
            </a:r>
            <a:endParaRPr lang="en-US" sz="1800" dirty="0"/>
          </a:p>
        </p:txBody>
      </p:sp>
      <p:sp>
        <p:nvSpPr>
          <p:cNvPr id="18" name="Text 3"/>
          <p:cNvSpPr/>
          <p:nvPr/>
        </p:nvSpPr>
        <p:spPr>
          <a:xfrm>
            <a:off x="217170" y="5791200"/>
            <a:ext cx="2880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Total Records</a:t>
            </a:r>
            <a:endParaRPr lang="en-US" sz="1350" dirty="0"/>
          </a:p>
        </p:txBody>
      </p:sp>
      <p:sp>
        <p:nvSpPr>
          <p:cNvPr id="19" name="Text 4"/>
          <p:cNvSpPr/>
          <p:nvPr/>
        </p:nvSpPr>
        <p:spPr>
          <a:xfrm>
            <a:off x="217170" y="6057900"/>
            <a:ext cx="288036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0D948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319,795</a:t>
            </a:r>
            <a:endParaRPr lang="en-US" sz="2250" dirty="0"/>
          </a:p>
        </p:txBody>
      </p:sp>
      <p:sp>
        <p:nvSpPr>
          <p:cNvPr id="20" name="Text 5"/>
          <p:cNvSpPr/>
          <p:nvPr/>
        </p:nvSpPr>
        <p:spPr>
          <a:xfrm>
            <a:off x="3074670" y="5791200"/>
            <a:ext cx="2880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Heart Disease Rate</a:t>
            </a:r>
            <a:endParaRPr lang="en-US" sz="1350" dirty="0"/>
          </a:p>
        </p:txBody>
      </p:sp>
      <p:sp>
        <p:nvSpPr>
          <p:cNvPr id="21" name="Text 6"/>
          <p:cNvSpPr/>
          <p:nvPr/>
        </p:nvSpPr>
        <p:spPr>
          <a:xfrm>
            <a:off x="3314700" y="6057900"/>
            <a:ext cx="24003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9731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8.56%</a:t>
            </a:r>
            <a:endParaRPr lang="en-US" sz="2250" dirty="0"/>
          </a:p>
        </p:txBody>
      </p:sp>
      <p:sp>
        <p:nvSpPr>
          <p:cNvPr id="22" name="Text 7"/>
          <p:cNvSpPr/>
          <p:nvPr/>
        </p:nvSpPr>
        <p:spPr>
          <a:xfrm>
            <a:off x="6477000" y="1047750"/>
            <a:ext cx="64922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Class Imbalance Challenge</a:t>
            </a:r>
            <a:endParaRPr lang="en-US" sz="1800" dirty="0"/>
          </a:p>
        </p:txBody>
      </p:sp>
      <p:sp>
        <p:nvSpPr>
          <p:cNvPr id="23" name="Text 8"/>
          <p:cNvSpPr/>
          <p:nvPr/>
        </p:nvSpPr>
        <p:spPr>
          <a:xfrm>
            <a:off x="6477000" y="1466850"/>
            <a:ext cx="64922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The dataset exhibits a significant class imbalance:</a:t>
            </a:r>
            <a:endParaRPr lang="en-US" sz="1350" dirty="0"/>
          </a:p>
        </p:txBody>
      </p:sp>
      <p:sp>
        <p:nvSpPr>
          <p:cNvPr id="24" name="Text 9"/>
          <p:cNvSpPr/>
          <p:nvPr/>
        </p:nvSpPr>
        <p:spPr>
          <a:xfrm>
            <a:off x="6934200" y="2076450"/>
            <a:ext cx="2029004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Heart Disease (1)</a:t>
            </a:r>
            <a:endParaRPr lang="en-US" sz="1350" dirty="0"/>
          </a:p>
        </p:txBody>
      </p:sp>
      <p:sp>
        <p:nvSpPr>
          <p:cNvPr id="25" name="Text 10"/>
          <p:cNvSpPr/>
          <p:nvPr/>
        </p:nvSpPr>
        <p:spPr>
          <a:xfrm>
            <a:off x="9183142" y="2076450"/>
            <a:ext cx="301627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27,373 records (8.56%)</a:t>
            </a:r>
            <a:endParaRPr lang="en-US" sz="1500" dirty="0"/>
          </a:p>
        </p:txBody>
      </p:sp>
      <p:sp>
        <p:nvSpPr>
          <p:cNvPr id="26" name="Text 11"/>
          <p:cNvSpPr/>
          <p:nvPr/>
        </p:nvSpPr>
        <p:spPr>
          <a:xfrm>
            <a:off x="6933307" y="2457450"/>
            <a:ext cx="200010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No Heart Disease (0)</a:t>
            </a:r>
            <a:endParaRPr lang="en-US" sz="1350" dirty="0"/>
          </a:p>
        </p:txBody>
      </p:sp>
      <p:sp>
        <p:nvSpPr>
          <p:cNvPr id="27" name="Text 12"/>
          <p:cNvSpPr/>
          <p:nvPr/>
        </p:nvSpPr>
        <p:spPr>
          <a:xfrm>
            <a:off x="8933408" y="2457450"/>
            <a:ext cx="2763292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292,422 records (91.44%)</a:t>
            </a:r>
            <a:endParaRPr lang="en-US" sz="1500" dirty="0"/>
          </a:p>
        </p:txBody>
      </p:sp>
      <p:sp>
        <p:nvSpPr>
          <p:cNvPr id="28" name="Text 13"/>
          <p:cNvSpPr/>
          <p:nvPr/>
        </p:nvSpPr>
        <p:spPr>
          <a:xfrm>
            <a:off x="6934200" y="3600450"/>
            <a:ext cx="60350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Impact on Model Evaluation</a:t>
            </a:r>
            <a:endParaRPr lang="en-US" sz="1500" dirty="0"/>
          </a:p>
        </p:txBody>
      </p:sp>
      <p:sp>
        <p:nvSpPr>
          <p:cNvPr id="29" name="Text 14"/>
          <p:cNvSpPr/>
          <p:nvPr/>
        </p:nvSpPr>
        <p:spPr>
          <a:xfrm>
            <a:off x="6705600" y="3981450"/>
            <a:ext cx="59893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Affects model performance metrics</a:t>
            </a:r>
            <a:endParaRPr lang="en-US" sz="1350" dirty="0"/>
          </a:p>
        </p:txBody>
      </p:sp>
      <p:sp>
        <p:nvSpPr>
          <p:cNvPr id="30" name="Text 15"/>
          <p:cNvSpPr/>
          <p:nvPr/>
        </p:nvSpPr>
        <p:spPr>
          <a:xfrm>
            <a:off x="6705600" y="4324350"/>
            <a:ext cx="59893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Can lead to overfitting for majority class</a:t>
            </a:r>
            <a:endParaRPr lang="en-US" sz="1350" dirty="0"/>
          </a:p>
        </p:txBody>
      </p:sp>
      <p:sp>
        <p:nvSpPr>
          <p:cNvPr id="31" name="Text 16"/>
          <p:cNvSpPr/>
          <p:nvPr/>
        </p:nvSpPr>
        <p:spPr>
          <a:xfrm>
            <a:off x="6705600" y="4667250"/>
            <a:ext cx="59893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Impacts sensitivity and specificity</a:t>
            </a:r>
            <a:endParaRPr lang="en-US" sz="1350" dirty="0"/>
          </a:p>
        </p:txBody>
      </p:sp>
      <p:sp>
        <p:nvSpPr>
          <p:cNvPr id="32" name="Text 17"/>
          <p:cNvSpPr/>
          <p:nvPr/>
        </p:nvSpPr>
        <p:spPr>
          <a:xfrm>
            <a:off x="6705600" y="5010150"/>
            <a:ext cx="59893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Requires careful evaluation techniques</a:t>
            </a:r>
            <a:endParaRPr lang="en-US" sz="1350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13263930-EC5A-B3F3-451A-FF1F3E37079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9486" y="1649364"/>
            <a:ext cx="5315514" cy="3472705"/>
          </a:xfrm>
          <a:prstGeom prst="rect">
            <a:avLst/>
          </a:prstGeom>
        </p:spPr>
      </p:pic>
      <p:pic>
        <p:nvPicPr>
          <p:cNvPr id="35" name="Image 4" descr="preencoded.png">
            <a:extLst>
              <a:ext uri="{FF2B5EF4-FFF2-40B4-BE49-F238E27FC236}">
                <a16:creationId xmlns:a16="http://schemas.microsoft.com/office/drawing/2014/main" id="{BE613E09-CF94-015F-876F-88B1672E2F2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12424" y="2171700"/>
            <a:ext cx="15240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00125"/>
            <a:ext cx="228600" cy="2286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" y="1733550"/>
            <a:ext cx="3632150" cy="1028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2095500"/>
            <a:ext cx="228600" cy="3048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4800" y="2914650"/>
            <a:ext cx="3632150" cy="1028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3276600"/>
            <a:ext cx="171450" cy="3048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4800" y="4095750"/>
            <a:ext cx="3632150" cy="10287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4457700"/>
            <a:ext cx="142875" cy="3048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04800" y="5276850"/>
            <a:ext cx="3632150" cy="1028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5638800"/>
            <a:ext cx="28575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94150" y="971550"/>
            <a:ext cx="7492901" cy="55816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622750" y="1228725"/>
            <a:ext cx="228600" cy="2286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161925"/>
            <a:ext cx="6079958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  <a:cs typeface="ui-sans-serif" pitchFamily="34" charset="-120"/>
              </a:rPr>
              <a:t>PHASE 2: EDA &amp; Key Risk Factors Analysis</a:t>
            </a:r>
            <a:endParaRPr lang="en-US" sz="2250" dirty="0">
              <a:latin typeface="Avenir Next LT Pro Demi" panose="020B0704020202020204" pitchFamily="34" charset="0"/>
            </a:endParaRPr>
          </a:p>
        </p:txBody>
      </p:sp>
      <p:sp>
        <p:nvSpPr>
          <p:cNvPr id="17" name="Text 1"/>
          <p:cNvSpPr/>
          <p:nvPr/>
        </p:nvSpPr>
        <p:spPr>
          <a:xfrm>
            <a:off x="10848975" y="200025"/>
            <a:ext cx="11544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5 of 14</a:t>
            </a:r>
            <a:endParaRPr lang="en-US" sz="1350" dirty="0"/>
          </a:p>
        </p:txBody>
      </p:sp>
      <p:sp>
        <p:nvSpPr>
          <p:cNvPr id="18" name="Text 2"/>
          <p:cNvSpPr/>
          <p:nvPr/>
        </p:nvSpPr>
        <p:spPr>
          <a:xfrm>
            <a:off x="609600" y="971550"/>
            <a:ext cx="3632150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Significant Risk Associations</a:t>
            </a:r>
            <a:endParaRPr lang="en-US" sz="1800" dirty="0"/>
          </a:p>
        </p:txBody>
      </p:sp>
      <p:sp>
        <p:nvSpPr>
          <p:cNvPr id="19" name="Text 3"/>
          <p:cNvSpPr/>
          <p:nvPr/>
        </p:nvSpPr>
        <p:spPr>
          <a:xfrm>
            <a:off x="800100" y="1885950"/>
            <a:ext cx="330827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Stroke History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800100" y="2152650"/>
            <a:ext cx="330827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Heart disease rate: </a:t>
            </a:r>
            <a:r>
              <a:rPr lang="en-US" sz="120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36.4% vs 7.5%</a:t>
            </a:r>
            <a:endParaRPr lang="en-US" sz="1200" dirty="0"/>
          </a:p>
        </p:txBody>
      </p:sp>
      <p:sp>
        <p:nvSpPr>
          <p:cNvPr id="21" name="Text 5"/>
          <p:cNvSpPr/>
          <p:nvPr/>
        </p:nvSpPr>
        <p:spPr>
          <a:xfrm>
            <a:off x="800100" y="2381250"/>
            <a:ext cx="330827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DC262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4.9× higher risk</a:t>
            </a:r>
            <a:endParaRPr lang="en-US" sz="1200" dirty="0"/>
          </a:p>
        </p:txBody>
      </p:sp>
      <p:sp>
        <p:nvSpPr>
          <p:cNvPr id="22" name="Text 6"/>
          <p:cNvSpPr/>
          <p:nvPr/>
        </p:nvSpPr>
        <p:spPr>
          <a:xfrm>
            <a:off x="742950" y="3067050"/>
            <a:ext cx="275689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Diabetes</a:t>
            </a:r>
            <a:endParaRPr lang="en-US" sz="1500" dirty="0"/>
          </a:p>
        </p:txBody>
      </p:sp>
      <p:sp>
        <p:nvSpPr>
          <p:cNvPr id="23" name="Text 7"/>
          <p:cNvSpPr/>
          <p:nvPr/>
        </p:nvSpPr>
        <p:spPr>
          <a:xfrm>
            <a:off x="742950" y="3333750"/>
            <a:ext cx="330827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Heart disease rate: </a:t>
            </a:r>
            <a:r>
              <a:rPr lang="en-US" sz="120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20.9% vs 6.5%</a:t>
            </a:r>
            <a:endParaRPr lang="en-US" sz="1200" dirty="0"/>
          </a:p>
        </p:txBody>
      </p:sp>
      <p:sp>
        <p:nvSpPr>
          <p:cNvPr id="24" name="Text 8"/>
          <p:cNvSpPr/>
          <p:nvPr/>
        </p:nvSpPr>
        <p:spPr>
          <a:xfrm>
            <a:off x="742950" y="3562350"/>
            <a:ext cx="330827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A580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3.2× higher risk</a:t>
            </a:r>
            <a:endParaRPr lang="en-US" sz="1200" dirty="0"/>
          </a:p>
        </p:txBody>
      </p:sp>
      <p:sp>
        <p:nvSpPr>
          <p:cNvPr id="25" name="Text 9"/>
          <p:cNvSpPr/>
          <p:nvPr/>
        </p:nvSpPr>
        <p:spPr>
          <a:xfrm>
            <a:off x="714375" y="4248150"/>
            <a:ext cx="330827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Difficulty Walking</a:t>
            </a:r>
            <a:endParaRPr lang="en-US" sz="1500" dirty="0"/>
          </a:p>
        </p:txBody>
      </p:sp>
      <p:sp>
        <p:nvSpPr>
          <p:cNvPr id="26" name="Text 10"/>
          <p:cNvSpPr/>
          <p:nvPr/>
        </p:nvSpPr>
        <p:spPr>
          <a:xfrm>
            <a:off x="714375" y="4514850"/>
            <a:ext cx="330827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Heart disease rate: </a:t>
            </a:r>
            <a:r>
              <a:rPr lang="en-US" sz="120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22.6% vs 6.3%</a:t>
            </a:r>
            <a:endParaRPr lang="en-US" sz="1200" dirty="0"/>
          </a:p>
        </p:txBody>
      </p:sp>
      <p:sp>
        <p:nvSpPr>
          <p:cNvPr id="27" name="Text 11"/>
          <p:cNvSpPr/>
          <p:nvPr/>
        </p:nvSpPr>
        <p:spPr>
          <a:xfrm>
            <a:off x="714375" y="4743450"/>
            <a:ext cx="330827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A8A04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3.6× higher risk</a:t>
            </a:r>
            <a:endParaRPr lang="en-US" sz="1200" dirty="0"/>
          </a:p>
        </p:txBody>
      </p:sp>
      <p:sp>
        <p:nvSpPr>
          <p:cNvPr id="28" name="Text 12"/>
          <p:cNvSpPr/>
          <p:nvPr/>
        </p:nvSpPr>
        <p:spPr>
          <a:xfrm>
            <a:off x="857250" y="5429250"/>
            <a:ext cx="275689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Smoking</a:t>
            </a:r>
            <a:endParaRPr lang="en-US" sz="1500" dirty="0"/>
          </a:p>
        </p:txBody>
      </p:sp>
      <p:sp>
        <p:nvSpPr>
          <p:cNvPr id="29" name="Text 13"/>
          <p:cNvSpPr/>
          <p:nvPr/>
        </p:nvSpPr>
        <p:spPr>
          <a:xfrm>
            <a:off x="857250" y="5695950"/>
            <a:ext cx="330827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Heart disease rate: </a:t>
            </a:r>
            <a:r>
              <a:rPr lang="en-US" sz="120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12.2% vs 6.0%</a:t>
            </a:r>
            <a:endParaRPr lang="en-US" sz="1200" dirty="0"/>
          </a:p>
        </p:txBody>
      </p:sp>
      <p:sp>
        <p:nvSpPr>
          <p:cNvPr id="30" name="Text 14"/>
          <p:cNvSpPr/>
          <p:nvPr/>
        </p:nvSpPr>
        <p:spPr>
          <a:xfrm>
            <a:off x="857250" y="5924550"/>
            <a:ext cx="330827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A34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2.0× higher risk</a:t>
            </a:r>
            <a:endParaRPr lang="en-US" sz="1200" dirty="0"/>
          </a:p>
        </p:txBody>
      </p:sp>
      <p:sp>
        <p:nvSpPr>
          <p:cNvPr id="31" name="Text 15"/>
          <p:cNvSpPr/>
          <p:nvPr/>
        </p:nvSpPr>
        <p:spPr>
          <a:xfrm>
            <a:off x="4927550" y="1200150"/>
            <a:ext cx="703570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Risk Ratio Comparison</a:t>
            </a:r>
            <a:endParaRPr lang="en-US" sz="18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BB82A6D2-CAED-1E40-2247-CECFA7B87BDC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51300" y="1720818"/>
            <a:ext cx="7362421" cy="43656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820025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1314450"/>
            <a:ext cx="5753100" cy="1143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1466850"/>
            <a:ext cx="200025" cy="3048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2609850"/>
            <a:ext cx="5753100" cy="13716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1000" y="2762250"/>
            <a:ext cx="228600" cy="3048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600" y="4133850"/>
            <a:ext cx="5753100" cy="11430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1000" y="4286250"/>
            <a:ext cx="257175" cy="304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8600" y="5429250"/>
            <a:ext cx="5753100" cy="1143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1000" y="5581650"/>
            <a:ext cx="228600" cy="3048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10300" y="1314450"/>
            <a:ext cx="5753100" cy="2924175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10300" y="4391025"/>
            <a:ext cx="5753100" cy="2733675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28600" y="7228972"/>
            <a:ext cx="11734800" cy="533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2900" y="7367336"/>
            <a:ext cx="171450" cy="304800"/>
          </a:xfrm>
          <a:prstGeom prst="rect">
            <a:avLst/>
          </a:prstGeom>
        </p:spPr>
      </p:pic>
      <p:sp>
        <p:nvSpPr>
          <p:cNvPr id="18" name="Text 0"/>
          <p:cNvSpPr/>
          <p:nvPr/>
        </p:nvSpPr>
        <p:spPr>
          <a:xfrm>
            <a:off x="381000" y="161925"/>
            <a:ext cx="7380208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P2 Cont/… </a:t>
            </a:r>
            <a:r>
              <a:rPr lang="en-US" sz="225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  <a:cs typeface="ui-sans-serif" pitchFamily="34" charset="-120"/>
              </a:rPr>
              <a:t>Demographic</a:t>
            </a:r>
            <a:r>
              <a:rPr lang="en-US" sz="22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&amp; Health Metrics Impact</a:t>
            </a:r>
            <a:endParaRPr lang="en-US" sz="2250" dirty="0"/>
          </a:p>
        </p:txBody>
      </p:sp>
      <p:sp>
        <p:nvSpPr>
          <p:cNvPr id="19" name="Text 1"/>
          <p:cNvSpPr/>
          <p:nvPr/>
        </p:nvSpPr>
        <p:spPr>
          <a:xfrm>
            <a:off x="10848975" y="200025"/>
            <a:ext cx="11544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6 of 14</a:t>
            </a:r>
            <a:endParaRPr lang="en-US" sz="1350" dirty="0"/>
          </a:p>
        </p:txBody>
      </p:sp>
      <p:sp>
        <p:nvSpPr>
          <p:cNvPr id="20" name="Text 2"/>
          <p:cNvSpPr/>
          <p:nvPr/>
        </p:nvSpPr>
        <p:spPr>
          <a:xfrm>
            <a:off x="228600" y="895350"/>
            <a:ext cx="14081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Analysis of numeric variables shows clear relationships with heart disease risk, with age and BMI exhibiting the strongest associations.</a:t>
            </a:r>
            <a:endParaRPr lang="en-US" sz="1350" dirty="0"/>
          </a:p>
        </p:txBody>
      </p:sp>
      <p:sp>
        <p:nvSpPr>
          <p:cNvPr id="21" name="Text 3"/>
          <p:cNvSpPr/>
          <p:nvPr/>
        </p:nvSpPr>
        <p:spPr>
          <a:xfrm>
            <a:off x="695325" y="1485900"/>
            <a:ext cx="495598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Age</a:t>
            </a:r>
            <a:endParaRPr lang="en-US" sz="1500" dirty="0"/>
          </a:p>
        </p:txBody>
      </p:sp>
      <p:sp>
        <p:nvSpPr>
          <p:cNvPr id="22" name="Text 4"/>
          <p:cNvSpPr/>
          <p:nvPr/>
        </p:nvSpPr>
        <p:spPr>
          <a:xfrm>
            <a:off x="381000" y="1847850"/>
            <a:ext cx="54483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Consistent increase in heart disease rates with advancing age, from 0.6% in younger adults to over 20% in older adults.</a:t>
            </a:r>
            <a:endParaRPr lang="en-US" sz="1200" dirty="0"/>
          </a:p>
        </p:txBody>
      </p:sp>
      <p:sp>
        <p:nvSpPr>
          <p:cNvPr id="23" name="Text 5"/>
          <p:cNvSpPr/>
          <p:nvPr/>
        </p:nvSpPr>
        <p:spPr>
          <a:xfrm>
            <a:off x="723900" y="2781300"/>
            <a:ext cx="486847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BMI</a:t>
            </a:r>
            <a:endParaRPr lang="en-US" sz="1500" dirty="0"/>
          </a:p>
        </p:txBody>
      </p:sp>
      <p:sp>
        <p:nvSpPr>
          <p:cNvPr id="24" name="Text 6"/>
          <p:cNvSpPr/>
          <p:nvPr/>
        </p:nvSpPr>
        <p:spPr>
          <a:xfrm>
            <a:off x="381000" y="3143250"/>
            <a:ext cx="54483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Obese category shows consistently highest heart disease rates (10.4%), followed by overweight (8.7%), normal weight (6.5%), and underweight (7.8%).</a:t>
            </a:r>
            <a:endParaRPr lang="en-US" sz="1200" dirty="0"/>
          </a:p>
        </p:txBody>
      </p:sp>
      <p:sp>
        <p:nvSpPr>
          <p:cNvPr id="25" name="Text 7"/>
          <p:cNvSpPr/>
          <p:nvPr/>
        </p:nvSpPr>
        <p:spPr>
          <a:xfrm>
            <a:off x="752475" y="4305300"/>
            <a:ext cx="199257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Physical Health</a:t>
            </a:r>
            <a:endParaRPr lang="en-US" sz="1500" dirty="0"/>
          </a:p>
        </p:txBody>
      </p:sp>
      <p:sp>
        <p:nvSpPr>
          <p:cNvPr id="26" name="Text 8"/>
          <p:cNvSpPr/>
          <p:nvPr/>
        </p:nvSpPr>
        <p:spPr>
          <a:xfrm>
            <a:off x="381000" y="4667250"/>
            <a:ext cx="54483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Poorer physical health scores correlate with higher heart disease rates, with a clear distinction between categories.</a:t>
            </a:r>
            <a:endParaRPr lang="en-US" sz="1200" dirty="0"/>
          </a:p>
        </p:txBody>
      </p:sp>
      <p:sp>
        <p:nvSpPr>
          <p:cNvPr id="27" name="Text 9"/>
          <p:cNvSpPr/>
          <p:nvPr/>
        </p:nvSpPr>
        <p:spPr>
          <a:xfrm>
            <a:off x="723900" y="5600700"/>
            <a:ext cx="181790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Mental Health</a:t>
            </a:r>
            <a:endParaRPr lang="en-US" sz="1500" dirty="0"/>
          </a:p>
        </p:txBody>
      </p:sp>
      <p:sp>
        <p:nvSpPr>
          <p:cNvPr id="28" name="Text 10"/>
          <p:cNvSpPr/>
          <p:nvPr/>
        </p:nvSpPr>
        <p:spPr>
          <a:xfrm>
            <a:off x="381000" y="5962650"/>
            <a:ext cx="54483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Some association with heart disease risk, though less pronounced than physical health factors.</a:t>
            </a:r>
            <a:endParaRPr lang="en-US" sz="1200" dirty="0"/>
          </a:p>
        </p:txBody>
      </p:sp>
      <p:sp>
        <p:nvSpPr>
          <p:cNvPr id="29" name="Text 11"/>
          <p:cNvSpPr/>
          <p:nvPr/>
        </p:nvSpPr>
        <p:spPr>
          <a:xfrm>
            <a:off x="6362700" y="1438275"/>
            <a:ext cx="65379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Distribution of Health Metrics</a:t>
            </a:r>
            <a:endParaRPr lang="en-US" sz="1500" dirty="0"/>
          </a:p>
        </p:txBody>
      </p:sp>
      <p:sp>
        <p:nvSpPr>
          <p:cNvPr id="30" name="Text 12"/>
          <p:cNvSpPr/>
          <p:nvPr/>
        </p:nvSpPr>
        <p:spPr>
          <a:xfrm>
            <a:off x="6362700" y="4543425"/>
            <a:ext cx="65379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Heart Disease Rates by Category</a:t>
            </a:r>
            <a:endParaRPr lang="en-US" sz="1500" dirty="0"/>
          </a:p>
        </p:txBody>
      </p:sp>
      <p:sp>
        <p:nvSpPr>
          <p:cNvPr id="31" name="Text 13"/>
          <p:cNvSpPr/>
          <p:nvPr/>
        </p:nvSpPr>
        <p:spPr>
          <a:xfrm>
            <a:off x="628650" y="7362322"/>
            <a:ext cx="12766238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Key Insight: Age and BMI show the most consistent association with heart disease risk across the population.</a:t>
            </a:r>
            <a:endParaRPr lang="en-US" sz="135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BD10294-3379-1A20-EC8E-5E46A821B04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198240" y="4790350"/>
            <a:ext cx="5753100" cy="227574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BABA9A32-3172-914E-C684-E434D709BE86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50988" y="1704975"/>
            <a:ext cx="3697987" cy="243984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954"/>
            <a:ext cx="12192000" cy="760095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1316" y="1162050"/>
            <a:ext cx="8267792" cy="6205412"/>
          </a:xfrm>
          <a:prstGeom prst="rect">
            <a:avLst/>
          </a:prstGeom>
        </p:spPr>
      </p:pic>
      <p:sp>
        <p:nvSpPr>
          <p:cNvPr id="17" name="Text 0"/>
          <p:cNvSpPr/>
          <p:nvPr/>
        </p:nvSpPr>
        <p:spPr>
          <a:xfrm>
            <a:off x="381000" y="161925"/>
            <a:ext cx="7705606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700"/>
              </a:lnSpc>
            </a:pPr>
            <a:r>
              <a:rPr lang="en-US" sz="16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P2 Cont/… </a:t>
            </a:r>
            <a:r>
              <a:rPr lang="en-US" sz="22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Interaction Effects &amp; Compounding Risk</a:t>
            </a:r>
            <a:endParaRPr lang="en-US" sz="2250" dirty="0"/>
          </a:p>
        </p:txBody>
      </p:sp>
      <p:sp>
        <p:nvSpPr>
          <p:cNvPr id="18" name="Text 1"/>
          <p:cNvSpPr/>
          <p:nvPr/>
        </p:nvSpPr>
        <p:spPr>
          <a:xfrm>
            <a:off x="10848975" y="200025"/>
            <a:ext cx="11544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7 of 14</a:t>
            </a:r>
            <a:endParaRPr lang="en-US" sz="1350" dirty="0"/>
          </a:p>
        </p:txBody>
      </p:sp>
      <p:sp>
        <p:nvSpPr>
          <p:cNvPr id="19" name="Text 2"/>
          <p:cNvSpPr/>
          <p:nvPr/>
        </p:nvSpPr>
        <p:spPr>
          <a:xfrm>
            <a:off x="228600" y="775030"/>
            <a:ext cx="14081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Analysis reveals that combinations of risk factors significantly amplify heart disease risk beyond individual factors.</a:t>
            </a:r>
            <a:endParaRPr lang="en-US" sz="1350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D94A78E3-83D9-4442-688F-146ABFA0A8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3244" y="1162050"/>
            <a:ext cx="8089890" cy="6092992"/>
          </a:xfrm>
          <a:prstGeom prst="rect">
            <a:avLst/>
          </a:prstGeom>
        </p:spPr>
      </p:pic>
      <p:pic>
        <p:nvPicPr>
          <p:cNvPr id="32" name="Image 2" descr="preencoded.png">
            <a:extLst>
              <a:ext uri="{FF2B5EF4-FFF2-40B4-BE49-F238E27FC236}">
                <a16:creationId xmlns:a16="http://schemas.microsoft.com/office/drawing/2014/main" id="{98C7E3B6-185B-2AFD-FD53-1B3B4A97E0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160" y="1141937"/>
            <a:ext cx="3508121" cy="2130074"/>
          </a:xfrm>
          <a:prstGeom prst="rect">
            <a:avLst/>
          </a:prstGeom>
        </p:spPr>
      </p:pic>
      <p:pic>
        <p:nvPicPr>
          <p:cNvPr id="34" name="Image 4" descr="preencoded.png">
            <a:extLst>
              <a:ext uri="{FF2B5EF4-FFF2-40B4-BE49-F238E27FC236}">
                <a16:creationId xmlns:a16="http://schemas.microsoft.com/office/drawing/2014/main" id="{16D05A8A-82C9-2D70-4B9B-35B8623BCD7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2793" y="1528007"/>
            <a:ext cx="152400" cy="152400"/>
          </a:xfrm>
          <a:prstGeom prst="rect">
            <a:avLst/>
          </a:prstGeom>
        </p:spPr>
      </p:pic>
      <p:pic>
        <p:nvPicPr>
          <p:cNvPr id="35" name="Image 5" descr="preencoded.png">
            <a:extLst>
              <a:ext uri="{FF2B5EF4-FFF2-40B4-BE49-F238E27FC236}">
                <a16:creationId xmlns:a16="http://schemas.microsoft.com/office/drawing/2014/main" id="{8FDA78A9-4F35-3A02-3158-1FD4298F94F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2793" y="2256424"/>
            <a:ext cx="152400" cy="152400"/>
          </a:xfrm>
          <a:prstGeom prst="rect">
            <a:avLst/>
          </a:prstGeom>
        </p:spPr>
      </p:pic>
      <p:pic>
        <p:nvPicPr>
          <p:cNvPr id="36" name="Image 6" descr="preencoded.png">
            <a:extLst>
              <a:ext uri="{FF2B5EF4-FFF2-40B4-BE49-F238E27FC236}">
                <a16:creationId xmlns:a16="http://schemas.microsoft.com/office/drawing/2014/main" id="{6E3A5D58-79DC-E8A0-C1AA-F6D8124FF0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2793" y="2750726"/>
            <a:ext cx="152400" cy="152400"/>
          </a:xfrm>
          <a:prstGeom prst="rect">
            <a:avLst/>
          </a:prstGeom>
        </p:spPr>
      </p:pic>
      <p:sp>
        <p:nvSpPr>
          <p:cNvPr id="37" name="Text 3">
            <a:extLst>
              <a:ext uri="{FF2B5EF4-FFF2-40B4-BE49-F238E27FC236}">
                <a16:creationId xmlns:a16="http://schemas.microsoft.com/office/drawing/2014/main" id="{C5E2F413-6CEB-0282-627F-F62831ED90D1}"/>
              </a:ext>
            </a:extLst>
          </p:cNvPr>
          <p:cNvSpPr/>
          <p:nvPr/>
        </p:nvSpPr>
        <p:spPr>
          <a:xfrm>
            <a:off x="302793" y="1213682"/>
            <a:ext cx="5181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E22C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Key Insights</a:t>
            </a:r>
            <a:endParaRPr lang="en-US" sz="1500" dirty="0"/>
          </a:p>
        </p:txBody>
      </p:sp>
      <p:sp>
        <p:nvSpPr>
          <p:cNvPr id="38" name="Text 4">
            <a:extLst>
              <a:ext uri="{FF2B5EF4-FFF2-40B4-BE49-F238E27FC236}">
                <a16:creationId xmlns:a16="http://schemas.microsoft.com/office/drawing/2014/main" id="{4A7AB707-2424-3F6D-EF9D-E85236457B13}"/>
              </a:ext>
            </a:extLst>
          </p:cNvPr>
          <p:cNvSpPr/>
          <p:nvPr/>
        </p:nvSpPr>
        <p:spPr>
          <a:xfrm>
            <a:off x="531393" y="1489907"/>
            <a:ext cx="278932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Individuals with 4+ risk factors have over 10x higher risk compared to those with no risk factors</a:t>
            </a:r>
            <a:endParaRPr lang="en-US" sz="1200" dirty="0"/>
          </a:p>
        </p:txBody>
      </p:sp>
      <p:sp>
        <p:nvSpPr>
          <p:cNvPr id="39" name="Text 5">
            <a:extLst>
              <a:ext uri="{FF2B5EF4-FFF2-40B4-BE49-F238E27FC236}">
                <a16:creationId xmlns:a16="http://schemas.microsoft.com/office/drawing/2014/main" id="{2DDB3FAA-4E16-855D-E655-0A9FCBDBD865}"/>
              </a:ext>
            </a:extLst>
          </p:cNvPr>
          <p:cNvSpPr/>
          <p:nvPr/>
        </p:nvSpPr>
        <p:spPr>
          <a:xfrm>
            <a:off x="531393" y="2218324"/>
            <a:ext cx="278932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The combination of diabetes and smoking shows a compounding effect on risk</a:t>
            </a:r>
            <a:endParaRPr lang="en-US" sz="1200" dirty="0"/>
          </a:p>
        </p:txBody>
      </p:sp>
      <p:sp>
        <p:nvSpPr>
          <p:cNvPr id="40" name="Text 6">
            <a:extLst>
              <a:ext uri="{FF2B5EF4-FFF2-40B4-BE49-F238E27FC236}">
                <a16:creationId xmlns:a16="http://schemas.microsoft.com/office/drawing/2014/main" id="{1B98B4D6-427B-B259-C959-B4B0FAB74286}"/>
              </a:ext>
            </a:extLst>
          </p:cNvPr>
          <p:cNvSpPr/>
          <p:nvPr/>
        </p:nvSpPr>
        <p:spPr>
          <a:xfrm>
            <a:off x="531393" y="2712626"/>
            <a:ext cx="278932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Age 60+ combined with other factors creates a particularly high-risk profile</a:t>
            </a:r>
            <a:endParaRPr lang="en-US" sz="1200" dirty="0"/>
          </a:p>
        </p:txBody>
      </p:sp>
      <p:pic>
        <p:nvPicPr>
          <p:cNvPr id="41" name="Image 2" descr="preencoded.png">
            <a:extLst>
              <a:ext uri="{FF2B5EF4-FFF2-40B4-BE49-F238E27FC236}">
                <a16:creationId xmlns:a16="http://schemas.microsoft.com/office/drawing/2014/main" id="{7453182F-18C9-E99D-1E3D-87EC474186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160" y="3443963"/>
            <a:ext cx="3508121" cy="3906803"/>
          </a:xfrm>
          <a:prstGeom prst="rect">
            <a:avLst/>
          </a:prstGeom>
        </p:spPr>
      </p:pic>
      <p:sp>
        <p:nvSpPr>
          <p:cNvPr id="42" name="Text 7">
            <a:extLst>
              <a:ext uri="{FF2B5EF4-FFF2-40B4-BE49-F238E27FC236}">
                <a16:creationId xmlns:a16="http://schemas.microsoft.com/office/drawing/2014/main" id="{A0E7AEEE-CD9B-F9B2-C0F8-FD41C28DFC8D}"/>
              </a:ext>
            </a:extLst>
          </p:cNvPr>
          <p:cNvSpPr/>
          <p:nvPr/>
        </p:nvSpPr>
        <p:spPr>
          <a:xfrm>
            <a:off x="228600" y="3528821"/>
            <a:ext cx="5181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766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Composite Risk Score</a:t>
            </a:r>
            <a:endParaRPr lang="en-US" sz="1500" dirty="0"/>
          </a:p>
        </p:txBody>
      </p:sp>
      <p:sp>
        <p:nvSpPr>
          <p:cNvPr id="43" name="Text 8">
            <a:extLst>
              <a:ext uri="{FF2B5EF4-FFF2-40B4-BE49-F238E27FC236}">
                <a16:creationId xmlns:a16="http://schemas.microsoft.com/office/drawing/2014/main" id="{5BF4F072-2E67-9ACC-1D28-88685D9DD427}"/>
              </a:ext>
            </a:extLst>
          </p:cNvPr>
          <p:cNvSpPr/>
          <p:nvPr/>
        </p:nvSpPr>
        <p:spPr>
          <a:xfrm>
            <a:off x="228600" y="3909821"/>
            <a:ext cx="3238169" cy="124436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GB" sz="12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A simple risk score was created by summing binary risk factors (Diabetes, Smoking, Stroke, Age 60+). The heart disease rate increased exponentially with this score, from ~3% with 0 risk factors to over 30% with 4 or more factors.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095C4C1-ECCA-0E5C-B19E-B24CB15CEC41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607"/>
          <a:stretch>
            <a:fillRect/>
          </a:stretch>
        </p:blipFill>
        <p:spPr>
          <a:xfrm>
            <a:off x="248866" y="5054756"/>
            <a:ext cx="3315373" cy="224936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66" y="19050"/>
            <a:ext cx="12192000" cy="78676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1485900"/>
            <a:ext cx="5562600" cy="800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638300"/>
            <a:ext cx="304800" cy="3810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743075"/>
            <a:ext cx="152400" cy="1524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" y="2476500"/>
            <a:ext cx="5562600" cy="1028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2628900"/>
            <a:ext cx="323850" cy="3810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3400" y="2733675"/>
            <a:ext cx="17145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" y="3695700"/>
            <a:ext cx="5562600" cy="10287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3848100"/>
            <a:ext cx="342900" cy="3810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3400" y="3952875"/>
            <a:ext cx="1905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" y="4914900"/>
            <a:ext cx="5562600" cy="1028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5067300"/>
            <a:ext cx="304800" cy="3810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3400" y="5172075"/>
            <a:ext cx="1524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4800" y="6172200"/>
            <a:ext cx="5562600" cy="1028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" y="6372225"/>
            <a:ext cx="133350" cy="17145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24600" y="1333500"/>
            <a:ext cx="5562600" cy="27813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38900" y="1447800"/>
            <a:ext cx="5334000" cy="22860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24600" y="4343400"/>
            <a:ext cx="5562600" cy="27432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852047" y="4991100"/>
            <a:ext cx="533400" cy="533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33022" y="5124450"/>
            <a:ext cx="171450" cy="2667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40923" y="4991100"/>
            <a:ext cx="533400" cy="533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488561" y="5124450"/>
            <a:ext cx="238125" cy="2667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748540" y="4991100"/>
            <a:ext cx="533400" cy="5334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919990" y="5124450"/>
            <a:ext cx="190500" cy="2667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983664" y="4991100"/>
            <a:ext cx="533400" cy="5334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155114" y="5124450"/>
            <a:ext cx="190500" cy="2667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553200" y="6019800"/>
            <a:ext cx="5105400" cy="8382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667500" y="6248400"/>
            <a:ext cx="376833" cy="3810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779716" y="6362700"/>
            <a:ext cx="152400" cy="1524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334" y="7524750"/>
            <a:ext cx="12192000" cy="342900"/>
          </a:xfrm>
          <a:prstGeom prst="rect">
            <a:avLst/>
          </a:prstGeom>
        </p:spPr>
      </p:pic>
      <p:sp>
        <p:nvSpPr>
          <p:cNvPr id="34" name="Text 1"/>
          <p:cNvSpPr/>
          <p:nvPr/>
        </p:nvSpPr>
        <p:spPr>
          <a:xfrm>
            <a:off x="304800" y="952500"/>
            <a:ext cx="667512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Model Development Methodology</a:t>
            </a:r>
            <a:endParaRPr lang="en-US" sz="1800" dirty="0"/>
          </a:p>
        </p:txBody>
      </p:sp>
      <p:sp>
        <p:nvSpPr>
          <p:cNvPr id="35" name="Text 2"/>
          <p:cNvSpPr/>
          <p:nvPr/>
        </p:nvSpPr>
        <p:spPr>
          <a:xfrm>
            <a:off x="914400" y="1638300"/>
            <a:ext cx="446201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Train-Test Split</a:t>
            </a:r>
            <a:endParaRPr lang="en-US" sz="1350" dirty="0"/>
          </a:p>
        </p:txBody>
      </p:sp>
      <p:sp>
        <p:nvSpPr>
          <p:cNvPr id="36" name="Text 3"/>
          <p:cNvSpPr/>
          <p:nvPr/>
        </p:nvSpPr>
        <p:spPr>
          <a:xfrm>
            <a:off x="914400" y="1905000"/>
            <a:ext cx="535441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80/20 split with stratification to maintain class proportions</a:t>
            </a:r>
            <a:endParaRPr lang="en-US" sz="1200" dirty="0"/>
          </a:p>
        </p:txBody>
      </p:sp>
      <p:sp>
        <p:nvSpPr>
          <p:cNvPr id="37" name="Text 4"/>
          <p:cNvSpPr/>
          <p:nvPr/>
        </p:nvSpPr>
        <p:spPr>
          <a:xfrm>
            <a:off x="933450" y="2628900"/>
            <a:ext cx="57378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Multicollinearity Assessment</a:t>
            </a:r>
            <a:endParaRPr lang="en-US" sz="1350" dirty="0"/>
          </a:p>
        </p:txBody>
      </p:sp>
      <p:sp>
        <p:nvSpPr>
          <p:cNvPr id="38" name="Text 5"/>
          <p:cNvSpPr/>
          <p:nvPr/>
        </p:nvSpPr>
        <p:spPr>
          <a:xfrm>
            <a:off x="933450" y="2895600"/>
            <a:ext cx="47815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Variance Inflation Factor (VIF) analysis identified SleepTime (VIF=14.87) as problematic</a:t>
            </a:r>
            <a:endParaRPr lang="en-US" sz="1200" dirty="0"/>
          </a:p>
        </p:txBody>
      </p:sp>
      <p:sp>
        <p:nvSpPr>
          <p:cNvPr id="39" name="Text 6"/>
          <p:cNvSpPr/>
          <p:nvPr/>
        </p:nvSpPr>
        <p:spPr>
          <a:xfrm>
            <a:off x="952500" y="3848100"/>
            <a:ext cx="47625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Threshold Optimization</a:t>
            </a:r>
            <a:endParaRPr lang="en-US" sz="1350" dirty="0"/>
          </a:p>
        </p:txBody>
      </p:sp>
      <p:sp>
        <p:nvSpPr>
          <p:cNvPr id="40" name="Text 7"/>
          <p:cNvSpPr/>
          <p:nvPr/>
        </p:nvSpPr>
        <p:spPr>
          <a:xfrm>
            <a:off x="952500" y="4114800"/>
            <a:ext cx="47625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Used Youden's Index to balance sensitivity (80.25%) and specificity (70.61%)</a:t>
            </a:r>
            <a:endParaRPr lang="en-US" sz="1200" dirty="0"/>
          </a:p>
        </p:txBody>
      </p:sp>
      <p:sp>
        <p:nvSpPr>
          <p:cNvPr id="41" name="Text 8"/>
          <p:cNvSpPr/>
          <p:nvPr/>
        </p:nvSpPr>
        <p:spPr>
          <a:xfrm>
            <a:off x="914400" y="5067300"/>
            <a:ext cx="4800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Model Evaluation</a:t>
            </a:r>
            <a:endParaRPr lang="en-US" sz="1350" dirty="0"/>
          </a:p>
        </p:txBody>
      </p:sp>
      <p:sp>
        <p:nvSpPr>
          <p:cNvPr id="42" name="Text 9"/>
          <p:cNvSpPr/>
          <p:nvPr/>
        </p:nvSpPr>
        <p:spPr>
          <a:xfrm>
            <a:off x="914400" y="5334000"/>
            <a:ext cx="48006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Comprehensive assessment using AUC (0.8291 training, 0.8262 test)</a:t>
            </a:r>
            <a:endParaRPr lang="en-US" sz="1200" dirty="0"/>
          </a:p>
        </p:txBody>
      </p:sp>
      <p:sp>
        <p:nvSpPr>
          <p:cNvPr id="43" name="Text 10"/>
          <p:cNvSpPr/>
          <p:nvPr/>
        </p:nvSpPr>
        <p:spPr>
          <a:xfrm>
            <a:off x="666750" y="6324600"/>
            <a:ext cx="5257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Key Insight</a:t>
            </a:r>
            <a:endParaRPr lang="en-US" sz="1350" dirty="0"/>
          </a:p>
        </p:txBody>
      </p:sp>
      <p:sp>
        <p:nvSpPr>
          <p:cNvPr id="44" name="Text 11"/>
          <p:cNvSpPr/>
          <p:nvPr/>
        </p:nvSpPr>
        <p:spPr>
          <a:xfrm>
            <a:off x="457200" y="6591300"/>
            <a:ext cx="5257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70C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Random Forest emerged as the best-performing model with an AUC of </a:t>
            </a:r>
            <a:r>
              <a:rPr lang="en-US" sz="1200" b="1" dirty="0">
                <a:solidFill>
                  <a:srgbClr val="0070C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0.8269</a:t>
            </a:r>
            <a:r>
              <a:rPr lang="en-US" sz="1200" dirty="0">
                <a:solidFill>
                  <a:srgbClr val="0070C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on test data</a:t>
            </a:r>
            <a:endParaRPr lang="en-US" sz="1200" dirty="0">
              <a:solidFill>
                <a:srgbClr val="0070C0"/>
              </a:solidFill>
            </a:endParaRPr>
          </a:p>
        </p:txBody>
      </p:sp>
      <p:sp>
        <p:nvSpPr>
          <p:cNvPr id="45" name="Text 12"/>
          <p:cNvSpPr/>
          <p:nvPr/>
        </p:nvSpPr>
        <p:spPr>
          <a:xfrm>
            <a:off x="6324600" y="952500"/>
            <a:ext cx="6675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766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Multicollinearity Assessment</a:t>
            </a:r>
            <a:endParaRPr lang="en-US" sz="1500" dirty="0"/>
          </a:p>
        </p:txBody>
      </p:sp>
      <p:sp>
        <p:nvSpPr>
          <p:cNvPr id="46" name="Text 13"/>
          <p:cNvSpPr/>
          <p:nvPr/>
        </p:nvSpPr>
        <p:spPr>
          <a:xfrm>
            <a:off x="5905500" y="3810000"/>
            <a:ext cx="6400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Correlation matrix showing variables with high VIF values</a:t>
            </a:r>
            <a:endParaRPr lang="en-US" sz="1050" dirty="0"/>
          </a:p>
        </p:txBody>
      </p:sp>
      <p:sp>
        <p:nvSpPr>
          <p:cNvPr id="47" name="Text 14"/>
          <p:cNvSpPr/>
          <p:nvPr/>
        </p:nvSpPr>
        <p:spPr>
          <a:xfrm>
            <a:off x="6553200" y="4572000"/>
            <a:ext cx="5105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766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Model Development Flow</a:t>
            </a:r>
            <a:endParaRPr lang="en-US" sz="1500" dirty="0"/>
          </a:p>
        </p:txBody>
      </p:sp>
      <p:sp>
        <p:nvSpPr>
          <p:cNvPr id="48" name="Text 15"/>
          <p:cNvSpPr/>
          <p:nvPr/>
        </p:nvSpPr>
        <p:spPr>
          <a:xfrm>
            <a:off x="6440076" y="5600700"/>
            <a:ext cx="135749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Data Preparation</a:t>
            </a:r>
            <a:endParaRPr lang="en-US" sz="1050" dirty="0"/>
          </a:p>
        </p:txBody>
      </p:sp>
      <p:sp>
        <p:nvSpPr>
          <p:cNvPr id="49" name="Text 16"/>
          <p:cNvSpPr/>
          <p:nvPr/>
        </p:nvSpPr>
        <p:spPr>
          <a:xfrm>
            <a:off x="7911108" y="5600700"/>
            <a:ext cx="139303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Feature Selection</a:t>
            </a:r>
            <a:endParaRPr lang="en-US" sz="1050" dirty="0"/>
          </a:p>
        </p:txBody>
      </p:sp>
      <p:sp>
        <p:nvSpPr>
          <p:cNvPr id="50" name="Text 17"/>
          <p:cNvSpPr/>
          <p:nvPr/>
        </p:nvSpPr>
        <p:spPr>
          <a:xfrm>
            <a:off x="9433902" y="5600700"/>
            <a:ext cx="1162824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Model Training</a:t>
            </a:r>
            <a:endParaRPr lang="en-US" sz="1050" dirty="0"/>
          </a:p>
        </p:txBody>
      </p:sp>
      <p:pic>
        <p:nvPicPr>
          <p:cNvPr id="56" name="Image 1" descr="preencoded.png">
            <a:extLst>
              <a:ext uri="{FF2B5EF4-FFF2-40B4-BE49-F238E27FC236}">
                <a16:creationId xmlns:a16="http://schemas.microsoft.com/office/drawing/2014/main" id="{B30AB32D-45CC-38E6-D275-FC2EC088D67F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-1334" y="-38100"/>
            <a:ext cx="12192000" cy="666750"/>
          </a:xfrm>
          <a:prstGeom prst="rect">
            <a:avLst/>
          </a:prstGeom>
        </p:spPr>
      </p:pic>
      <p:sp>
        <p:nvSpPr>
          <p:cNvPr id="51" name="Text 18"/>
          <p:cNvSpPr/>
          <p:nvPr/>
        </p:nvSpPr>
        <p:spPr>
          <a:xfrm>
            <a:off x="10761003" y="5600700"/>
            <a:ext cx="97887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Deployment</a:t>
            </a:r>
            <a:endParaRPr lang="en-US" sz="1050" dirty="0"/>
          </a:p>
        </p:txBody>
      </p:sp>
      <p:sp>
        <p:nvSpPr>
          <p:cNvPr id="52" name="Text 19"/>
          <p:cNvSpPr/>
          <p:nvPr/>
        </p:nvSpPr>
        <p:spPr>
          <a:xfrm>
            <a:off x="7158633" y="6134100"/>
            <a:ext cx="438566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Challenge Addressed</a:t>
            </a:r>
            <a:endParaRPr lang="en-US" sz="1200" dirty="0"/>
          </a:p>
        </p:txBody>
      </p:sp>
      <p:sp>
        <p:nvSpPr>
          <p:cNvPr id="53" name="Text 20"/>
          <p:cNvSpPr/>
          <p:nvPr/>
        </p:nvSpPr>
        <p:spPr>
          <a:xfrm>
            <a:off x="7158633" y="6362700"/>
            <a:ext cx="4385667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Class imbalance (8.56% heart disease cases) and multicollinearity</a:t>
            </a:r>
            <a:endParaRPr lang="en-US" sz="1050" dirty="0"/>
          </a:p>
        </p:txBody>
      </p:sp>
      <p:sp>
        <p:nvSpPr>
          <p:cNvPr id="55" name="Text 22"/>
          <p:cNvSpPr/>
          <p:nvPr/>
        </p:nvSpPr>
        <p:spPr>
          <a:xfrm>
            <a:off x="11341894" y="7600950"/>
            <a:ext cx="562928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16 / 25</a:t>
            </a:r>
            <a:endParaRPr lang="en-US" sz="1050" dirty="0"/>
          </a:p>
        </p:txBody>
      </p:sp>
      <p:sp>
        <p:nvSpPr>
          <p:cNvPr id="33" name="Text 0"/>
          <p:cNvSpPr/>
          <p:nvPr/>
        </p:nvSpPr>
        <p:spPr>
          <a:xfrm>
            <a:off x="381000" y="1524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  <a:cs typeface="ui-sans-serif" pitchFamily="34" charset="-120"/>
              </a:rPr>
              <a:t>PHASE 3: Predictive Modeling Approach</a:t>
            </a:r>
            <a:endParaRPr lang="en-US" sz="2250" dirty="0">
              <a:latin typeface="Avenir Next LT Pro Demi" panose="020B0704020202020204" pitchFamily="34" charset="0"/>
            </a:endParaRPr>
          </a:p>
        </p:txBody>
      </p:sp>
      <p:sp>
        <p:nvSpPr>
          <p:cNvPr id="57" name="Text 1">
            <a:extLst>
              <a:ext uri="{FF2B5EF4-FFF2-40B4-BE49-F238E27FC236}">
                <a16:creationId xmlns:a16="http://schemas.microsoft.com/office/drawing/2014/main" id="{89163EE6-BBEE-15B1-70BA-41960C92DE0E}"/>
              </a:ext>
            </a:extLst>
          </p:cNvPr>
          <p:cNvSpPr/>
          <p:nvPr/>
        </p:nvSpPr>
        <p:spPr>
          <a:xfrm>
            <a:off x="10848975" y="200025"/>
            <a:ext cx="11544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8 of 14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" y="-20056"/>
            <a:ext cx="12192000" cy="9334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34594"/>
            <a:ext cx="12228096" cy="6667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09650"/>
            <a:ext cx="285750" cy="2286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" y="2457450"/>
            <a:ext cx="285750" cy="228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" y="3219450"/>
            <a:ext cx="2317700" cy="762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49700" y="3219450"/>
            <a:ext cx="2317700" cy="762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4800" y="4514850"/>
            <a:ext cx="2317700" cy="7620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49700" y="4514850"/>
            <a:ext cx="2317700" cy="7620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24600" y="1009650"/>
            <a:ext cx="228600" cy="228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24600" y="1390650"/>
            <a:ext cx="5562600" cy="51625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4600" y="6711612"/>
            <a:ext cx="257175" cy="2286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24600" y="7092612"/>
            <a:ext cx="2705100" cy="8382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77000" y="7148756"/>
            <a:ext cx="190500" cy="2667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82100" y="7092612"/>
            <a:ext cx="2705100" cy="8382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334500" y="7148756"/>
            <a:ext cx="190500" cy="2667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24600" y="8127324"/>
            <a:ext cx="2705100" cy="8382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77000" y="8183468"/>
            <a:ext cx="190500" cy="2667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182100" y="8127324"/>
            <a:ext cx="2705100" cy="8382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334500" y="8183468"/>
            <a:ext cx="190500" cy="266700"/>
          </a:xfrm>
          <a:prstGeom prst="rect">
            <a:avLst/>
          </a:prstGeom>
        </p:spPr>
      </p:pic>
      <p:sp>
        <p:nvSpPr>
          <p:cNvPr id="22" name="Text 0"/>
          <p:cNvSpPr/>
          <p:nvPr/>
        </p:nvSpPr>
        <p:spPr>
          <a:xfrm>
            <a:off x="381000" y="161925"/>
            <a:ext cx="6141839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  <a:cs typeface="ui-sans-serif" pitchFamily="34" charset="-120"/>
              </a:rPr>
              <a:t>P3 Cont/…</a:t>
            </a:r>
            <a:r>
              <a:rPr lang="en-US" sz="225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  <a:cs typeface="ui-sans-serif" pitchFamily="34" charset="-120"/>
              </a:rPr>
              <a:t>Predictive Models Development</a:t>
            </a:r>
            <a:endParaRPr lang="en-US" sz="2250" dirty="0">
              <a:latin typeface="Avenir Next LT Pro Demi" panose="020B0704020202020204" pitchFamily="34" charset="0"/>
            </a:endParaRPr>
          </a:p>
        </p:txBody>
      </p:sp>
      <p:sp>
        <p:nvSpPr>
          <p:cNvPr id="23" name="Text 1"/>
          <p:cNvSpPr/>
          <p:nvPr/>
        </p:nvSpPr>
        <p:spPr>
          <a:xfrm>
            <a:off x="10848975" y="200025"/>
            <a:ext cx="11544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9 of 14</a:t>
            </a:r>
            <a:endParaRPr lang="en-US" sz="1350" dirty="0"/>
          </a:p>
        </p:txBody>
      </p:sp>
      <p:sp>
        <p:nvSpPr>
          <p:cNvPr id="24" name="Text 2"/>
          <p:cNvSpPr/>
          <p:nvPr/>
        </p:nvSpPr>
        <p:spPr>
          <a:xfrm>
            <a:off x="704850" y="971550"/>
            <a:ext cx="667512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Logistic Regression Methodology</a:t>
            </a:r>
            <a:endParaRPr lang="en-US" sz="1800" dirty="0"/>
          </a:p>
        </p:txBody>
      </p:sp>
      <p:sp>
        <p:nvSpPr>
          <p:cNvPr id="25" name="Text 3"/>
          <p:cNvSpPr/>
          <p:nvPr/>
        </p:nvSpPr>
        <p:spPr>
          <a:xfrm>
            <a:off x="342900" y="1390650"/>
            <a:ext cx="662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80/20 train-test split (stratified)</a:t>
            </a:r>
            <a:endParaRPr lang="en-US" sz="1350" dirty="0"/>
          </a:p>
        </p:txBody>
      </p:sp>
      <p:sp>
        <p:nvSpPr>
          <p:cNvPr id="26" name="Text 4"/>
          <p:cNvSpPr/>
          <p:nvPr/>
        </p:nvSpPr>
        <p:spPr>
          <a:xfrm>
            <a:off x="342900" y="1657350"/>
            <a:ext cx="662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Removed multicollinearity (VIF=14.87 for SleepTime)</a:t>
            </a:r>
            <a:endParaRPr lang="en-US" sz="1350" dirty="0"/>
          </a:p>
        </p:txBody>
      </p:sp>
      <p:sp>
        <p:nvSpPr>
          <p:cNvPr id="27" name="Text 5"/>
          <p:cNvSpPr/>
          <p:nvPr/>
        </p:nvSpPr>
        <p:spPr>
          <a:xfrm>
            <a:off x="342900" y="1924050"/>
            <a:ext cx="662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14 statistically significant predictors (p &lt; 0.001)</a:t>
            </a:r>
            <a:endParaRPr lang="en-US" sz="1350" dirty="0"/>
          </a:p>
        </p:txBody>
      </p:sp>
      <p:sp>
        <p:nvSpPr>
          <p:cNvPr id="28" name="Text 6"/>
          <p:cNvSpPr/>
          <p:nvPr/>
        </p:nvSpPr>
        <p:spPr>
          <a:xfrm>
            <a:off x="704850" y="2419350"/>
            <a:ext cx="667512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Threshold Optimization</a:t>
            </a:r>
            <a:endParaRPr lang="en-US" sz="1800" dirty="0"/>
          </a:p>
        </p:txBody>
      </p:sp>
      <p:sp>
        <p:nvSpPr>
          <p:cNvPr id="29" name="Text 7"/>
          <p:cNvSpPr/>
          <p:nvPr/>
        </p:nvSpPr>
        <p:spPr>
          <a:xfrm>
            <a:off x="304800" y="2838450"/>
            <a:ext cx="5562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Default threshold (0.5):</a:t>
            </a:r>
            <a:endParaRPr lang="en-US" sz="1350" dirty="0"/>
          </a:p>
        </p:txBody>
      </p:sp>
      <p:sp>
        <p:nvSpPr>
          <p:cNvPr id="30" name="Text 8"/>
          <p:cNvSpPr/>
          <p:nvPr/>
        </p:nvSpPr>
        <p:spPr>
          <a:xfrm>
            <a:off x="419100" y="3333750"/>
            <a:ext cx="20891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Sensitivity</a:t>
            </a:r>
            <a:endParaRPr lang="en-US" sz="1200" dirty="0"/>
          </a:p>
        </p:txBody>
      </p:sp>
      <p:sp>
        <p:nvSpPr>
          <p:cNvPr id="31" name="Text 9"/>
          <p:cNvSpPr/>
          <p:nvPr/>
        </p:nvSpPr>
        <p:spPr>
          <a:xfrm>
            <a:off x="419100" y="3562350"/>
            <a:ext cx="20891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EF4444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9.12%</a:t>
            </a:r>
            <a:endParaRPr lang="en-US" sz="1800" dirty="0"/>
          </a:p>
        </p:txBody>
      </p:sp>
      <p:sp>
        <p:nvSpPr>
          <p:cNvPr id="32" name="Text 10"/>
          <p:cNvSpPr/>
          <p:nvPr/>
        </p:nvSpPr>
        <p:spPr>
          <a:xfrm>
            <a:off x="3664000" y="3333750"/>
            <a:ext cx="20891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Specificity</a:t>
            </a:r>
            <a:endParaRPr lang="en-US" sz="1200" dirty="0"/>
          </a:p>
        </p:txBody>
      </p:sp>
      <p:sp>
        <p:nvSpPr>
          <p:cNvPr id="33" name="Text 11"/>
          <p:cNvSpPr/>
          <p:nvPr/>
        </p:nvSpPr>
        <p:spPr>
          <a:xfrm>
            <a:off x="3664000" y="3562350"/>
            <a:ext cx="250692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2C55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99.20%</a:t>
            </a:r>
            <a:endParaRPr lang="en-US" sz="1800" dirty="0"/>
          </a:p>
        </p:txBody>
      </p:sp>
      <p:sp>
        <p:nvSpPr>
          <p:cNvPr id="34" name="Text 12"/>
          <p:cNvSpPr/>
          <p:nvPr/>
        </p:nvSpPr>
        <p:spPr>
          <a:xfrm>
            <a:off x="304800" y="4133850"/>
            <a:ext cx="6675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Optimal threshold (0.0782):</a:t>
            </a:r>
            <a:endParaRPr lang="en-US" sz="1350" dirty="0"/>
          </a:p>
        </p:txBody>
      </p:sp>
      <p:sp>
        <p:nvSpPr>
          <p:cNvPr id="35" name="Text 13"/>
          <p:cNvSpPr/>
          <p:nvPr/>
        </p:nvSpPr>
        <p:spPr>
          <a:xfrm>
            <a:off x="419100" y="4629150"/>
            <a:ext cx="20891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Sensitivity</a:t>
            </a:r>
            <a:endParaRPr lang="en-US" sz="1200" dirty="0"/>
          </a:p>
        </p:txBody>
      </p:sp>
      <p:sp>
        <p:nvSpPr>
          <p:cNvPr id="36" name="Text 14"/>
          <p:cNvSpPr/>
          <p:nvPr/>
        </p:nvSpPr>
        <p:spPr>
          <a:xfrm>
            <a:off x="419100" y="4857750"/>
            <a:ext cx="250692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EF4444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80.25%</a:t>
            </a:r>
            <a:endParaRPr lang="en-US" sz="1800" dirty="0"/>
          </a:p>
        </p:txBody>
      </p:sp>
      <p:sp>
        <p:nvSpPr>
          <p:cNvPr id="37" name="Text 15"/>
          <p:cNvSpPr/>
          <p:nvPr/>
        </p:nvSpPr>
        <p:spPr>
          <a:xfrm>
            <a:off x="3664000" y="4629150"/>
            <a:ext cx="20891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Specificity</a:t>
            </a:r>
            <a:endParaRPr lang="en-US" sz="1200" dirty="0"/>
          </a:p>
        </p:txBody>
      </p:sp>
      <p:sp>
        <p:nvSpPr>
          <p:cNvPr id="38" name="Text 16"/>
          <p:cNvSpPr/>
          <p:nvPr/>
        </p:nvSpPr>
        <p:spPr>
          <a:xfrm>
            <a:off x="3664000" y="4857750"/>
            <a:ext cx="250692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2C55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70.61%</a:t>
            </a:r>
            <a:endParaRPr lang="en-US" sz="1800" dirty="0"/>
          </a:p>
        </p:txBody>
      </p:sp>
      <p:sp>
        <p:nvSpPr>
          <p:cNvPr id="39" name="Text 17"/>
          <p:cNvSpPr/>
          <p:nvPr/>
        </p:nvSpPr>
        <p:spPr>
          <a:xfrm>
            <a:off x="6667500" y="971550"/>
            <a:ext cx="5562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ROC Curve Analysis</a:t>
            </a:r>
            <a:endParaRPr lang="en-US" sz="1800" dirty="0"/>
          </a:p>
        </p:txBody>
      </p:sp>
      <p:sp>
        <p:nvSpPr>
          <p:cNvPr id="40" name="Text 18"/>
          <p:cNvSpPr/>
          <p:nvPr/>
        </p:nvSpPr>
        <p:spPr>
          <a:xfrm>
            <a:off x="6696075" y="6661480"/>
            <a:ext cx="5562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Model Performance</a:t>
            </a:r>
            <a:endParaRPr lang="en-US" sz="1800" dirty="0"/>
          </a:p>
        </p:txBody>
      </p:sp>
      <p:sp>
        <p:nvSpPr>
          <p:cNvPr id="41" name="Text 19"/>
          <p:cNvSpPr/>
          <p:nvPr/>
        </p:nvSpPr>
        <p:spPr>
          <a:xfrm>
            <a:off x="6743700" y="7148756"/>
            <a:ext cx="1646634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Training AUC</a:t>
            </a:r>
            <a:endParaRPr lang="en-US" sz="1500" dirty="0"/>
          </a:p>
        </p:txBody>
      </p:sp>
      <p:sp>
        <p:nvSpPr>
          <p:cNvPr id="42" name="Text 20"/>
          <p:cNvSpPr/>
          <p:nvPr/>
        </p:nvSpPr>
        <p:spPr>
          <a:xfrm>
            <a:off x="6477000" y="7479624"/>
            <a:ext cx="288036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0.8291</a:t>
            </a:r>
            <a:endParaRPr lang="en-US" sz="2250" dirty="0"/>
          </a:p>
        </p:txBody>
      </p:sp>
      <p:sp>
        <p:nvSpPr>
          <p:cNvPr id="43" name="Text 21"/>
          <p:cNvSpPr/>
          <p:nvPr/>
        </p:nvSpPr>
        <p:spPr>
          <a:xfrm>
            <a:off x="9601200" y="7148756"/>
            <a:ext cx="112889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Test AUC</a:t>
            </a:r>
            <a:endParaRPr lang="en-US" sz="1500" dirty="0"/>
          </a:p>
        </p:txBody>
      </p:sp>
      <p:sp>
        <p:nvSpPr>
          <p:cNvPr id="44" name="Text 22"/>
          <p:cNvSpPr/>
          <p:nvPr/>
        </p:nvSpPr>
        <p:spPr>
          <a:xfrm>
            <a:off x="9334500" y="7479624"/>
            <a:ext cx="288036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EA580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0.8262</a:t>
            </a:r>
            <a:endParaRPr lang="en-US" sz="2250" dirty="0"/>
          </a:p>
        </p:txBody>
      </p:sp>
      <p:sp>
        <p:nvSpPr>
          <p:cNvPr id="45" name="Text 23"/>
          <p:cNvSpPr/>
          <p:nvPr/>
        </p:nvSpPr>
        <p:spPr>
          <a:xfrm>
            <a:off x="6743700" y="8183468"/>
            <a:ext cx="1162288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Accuracy</a:t>
            </a:r>
            <a:endParaRPr lang="en-US" sz="1500" dirty="0"/>
          </a:p>
        </p:txBody>
      </p:sp>
      <p:sp>
        <p:nvSpPr>
          <p:cNvPr id="46" name="Text 24"/>
          <p:cNvSpPr/>
          <p:nvPr/>
        </p:nvSpPr>
        <p:spPr>
          <a:xfrm>
            <a:off x="6477000" y="8514336"/>
            <a:ext cx="288036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6A34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71.44%</a:t>
            </a:r>
            <a:endParaRPr lang="en-US" sz="2250" dirty="0"/>
          </a:p>
        </p:txBody>
      </p:sp>
      <p:sp>
        <p:nvSpPr>
          <p:cNvPr id="47" name="Text 25"/>
          <p:cNvSpPr/>
          <p:nvPr/>
        </p:nvSpPr>
        <p:spPr>
          <a:xfrm>
            <a:off x="9601200" y="8183468"/>
            <a:ext cx="140392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Overfitting</a:t>
            </a:r>
            <a:endParaRPr lang="en-US" sz="1500" dirty="0"/>
          </a:p>
        </p:txBody>
      </p:sp>
      <p:sp>
        <p:nvSpPr>
          <p:cNvPr id="48" name="Text 26"/>
          <p:cNvSpPr/>
          <p:nvPr/>
        </p:nvSpPr>
        <p:spPr>
          <a:xfrm>
            <a:off x="9334500" y="8514336"/>
            <a:ext cx="288036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9333E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0.0324</a:t>
            </a:r>
            <a:endParaRPr lang="en-US" sz="2250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AB1399A4-C839-5C5F-D697-405B056A0612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368223" y="1566106"/>
            <a:ext cx="5480877" cy="4743450"/>
          </a:xfrm>
          <a:prstGeom prst="rect">
            <a:avLst/>
          </a:prstGeom>
        </p:spPr>
      </p:pic>
      <p:pic>
        <p:nvPicPr>
          <p:cNvPr id="51" name="Image 9" descr="preencoded.png">
            <a:extLst>
              <a:ext uri="{FF2B5EF4-FFF2-40B4-BE49-F238E27FC236}">
                <a16:creationId xmlns:a16="http://schemas.microsoft.com/office/drawing/2014/main" id="{DE570A56-F6D3-30A2-7278-677F1787EB9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04800" y="5466347"/>
            <a:ext cx="5562600" cy="3607465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0DB1D331-B9BA-0694-B7C1-33A7B7DD2C2E}"/>
              </a:ext>
            </a:extLst>
          </p:cNvPr>
          <p:cNvSpPr txBox="1"/>
          <p:nvPr/>
        </p:nvSpPr>
        <p:spPr>
          <a:xfrm>
            <a:off x="342900" y="5637943"/>
            <a:ext cx="5385957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ui-sans-serif"/>
              </a:rPr>
              <a:t>The initial high accuracy is misleading, driven by correctly classifying the majority "No Disease" class. The sensitivity of 9.12% is unacceptable for a medical screening tool.</a:t>
            </a:r>
          </a:p>
          <a:p>
            <a:pPr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ui-sans-serif"/>
              </a:rPr>
              <a:t>Optimal Threshold Selection</a:t>
            </a:r>
            <a:br>
              <a:rPr lang="en-GB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ui-sans-serif"/>
              </a:rPr>
            </a:br>
            <a:r>
              <a:rPr lang="en-GB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ui-sans-serif"/>
              </a:rPr>
              <a:t>Using Youden's Index (maximizing Sensitivity + Specificity), the optimal threshold was found to be </a:t>
            </a:r>
            <a:r>
              <a:rPr lang="en-GB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ui-sans-serif"/>
              </a:rPr>
              <a:t>0.0782</a:t>
            </a:r>
            <a:r>
              <a:rPr lang="en-GB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ui-sans-serif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8086725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6181725"/>
            <a:ext cx="6812161" cy="1333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6362700"/>
            <a:ext cx="171450" cy="1714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7961" y="1333500"/>
            <a:ext cx="4465290" cy="12192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50361" y="1485900"/>
            <a:ext cx="304800" cy="3810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6561" y="1590675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31227" y="1524000"/>
            <a:ext cx="1279624" cy="3048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7961" y="2705100"/>
            <a:ext cx="4465290" cy="990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50361" y="2857500"/>
            <a:ext cx="304800" cy="381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26561" y="2962275"/>
            <a:ext cx="1524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531227" y="2895600"/>
            <a:ext cx="1279624" cy="304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7961" y="3848100"/>
            <a:ext cx="4465290" cy="9906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50361" y="4000500"/>
            <a:ext cx="323850" cy="3810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726561" y="4105275"/>
            <a:ext cx="17145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531227" y="4038600"/>
            <a:ext cx="1279624" cy="3048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7961" y="4991100"/>
            <a:ext cx="4465290" cy="9906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50361" y="5143500"/>
            <a:ext cx="342900" cy="3810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726561" y="5248275"/>
            <a:ext cx="1905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531227" y="5181600"/>
            <a:ext cx="1279624" cy="3048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0" y="7743825"/>
            <a:ext cx="12192000" cy="342900"/>
          </a:xfrm>
          <a:prstGeom prst="rect">
            <a:avLst/>
          </a:prstGeom>
        </p:spPr>
      </p:pic>
      <p:sp>
        <p:nvSpPr>
          <p:cNvPr id="25" name="Text 1"/>
          <p:cNvSpPr/>
          <p:nvPr/>
        </p:nvSpPr>
        <p:spPr>
          <a:xfrm>
            <a:off x="628650" y="6334125"/>
            <a:ext cx="650736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7E22C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ROC Curve Insights</a:t>
            </a:r>
            <a:endParaRPr lang="en-US" sz="1350" dirty="0"/>
          </a:p>
        </p:txBody>
      </p:sp>
      <p:sp>
        <p:nvSpPr>
          <p:cNvPr id="26" name="Text 2"/>
          <p:cNvSpPr/>
          <p:nvPr/>
        </p:nvSpPr>
        <p:spPr>
          <a:xfrm>
            <a:off x="381000" y="6677025"/>
            <a:ext cx="6507361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ROC curves illustrate the diagnostic ability of a binary classifier system as the discrimination threshold is varied. The area under the ROC curve (AUC) provides a single measure of overall classifier performance.</a:t>
            </a:r>
            <a:endParaRPr lang="en-US" sz="1200" dirty="0"/>
          </a:p>
        </p:txBody>
      </p:sp>
      <p:sp>
        <p:nvSpPr>
          <p:cNvPr id="27" name="Text 3"/>
          <p:cNvSpPr/>
          <p:nvPr/>
        </p:nvSpPr>
        <p:spPr>
          <a:xfrm>
            <a:off x="7497961" y="876300"/>
            <a:ext cx="5358348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Model Performance Comparison</a:t>
            </a:r>
            <a:endParaRPr lang="en-US" sz="1800" dirty="0"/>
          </a:p>
        </p:txBody>
      </p:sp>
      <p:sp>
        <p:nvSpPr>
          <p:cNvPr id="28" name="Text 4"/>
          <p:cNvSpPr/>
          <p:nvPr/>
        </p:nvSpPr>
        <p:spPr>
          <a:xfrm>
            <a:off x="8069461" y="1543050"/>
            <a:ext cx="175379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Random Forest</a:t>
            </a:r>
            <a:endParaRPr lang="en-US" sz="1350" dirty="0"/>
          </a:p>
        </p:txBody>
      </p:sp>
      <p:sp>
        <p:nvSpPr>
          <p:cNvPr id="29" name="Text 5"/>
          <p:cNvSpPr/>
          <p:nvPr/>
        </p:nvSpPr>
        <p:spPr>
          <a:xfrm>
            <a:off x="10645527" y="1524000"/>
            <a:ext cx="1535549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15E59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AUC: 0.8269</a:t>
            </a:r>
            <a:endParaRPr lang="en-US" sz="1200" dirty="0"/>
          </a:p>
        </p:txBody>
      </p:sp>
      <p:sp>
        <p:nvSpPr>
          <p:cNvPr id="30" name="Text 6"/>
          <p:cNvSpPr/>
          <p:nvPr/>
        </p:nvSpPr>
        <p:spPr>
          <a:xfrm>
            <a:off x="7650361" y="1943100"/>
            <a:ext cx="416049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Best overall performance with excellent balance across metrics.</a:t>
            </a:r>
            <a:endParaRPr lang="en-US" sz="1200" dirty="0"/>
          </a:p>
        </p:txBody>
      </p:sp>
      <p:sp>
        <p:nvSpPr>
          <p:cNvPr id="31" name="Text 7"/>
          <p:cNvSpPr/>
          <p:nvPr/>
        </p:nvSpPr>
        <p:spPr>
          <a:xfrm>
            <a:off x="8069461" y="2914650"/>
            <a:ext cx="2264747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Logistic Regression</a:t>
            </a:r>
            <a:endParaRPr lang="en-US" sz="1350" dirty="0"/>
          </a:p>
        </p:txBody>
      </p:sp>
      <p:sp>
        <p:nvSpPr>
          <p:cNvPr id="32" name="Text 8"/>
          <p:cNvSpPr/>
          <p:nvPr/>
        </p:nvSpPr>
        <p:spPr>
          <a:xfrm>
            <a:off x="10645527" y="2895600"/>
            <a:ext cx="1535549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9A3412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AUC: 0.8266</a:t>
            </a:r>
            <a:endParaRPr lang="en-US" sz="1200" dirty="0"/>
          </a:p>
        </p:txBody>
      </p:sp>
      <p:sp>
        <p:nvSpPr>
          <p:cNvPr id="33" name="Text 9"/>
          <p:cNvSpPr/>
          <p:nvPr/>
        </p:nvSpPr>
        <p:spPr>
          <a:xfrm>
            <a:off x="7650361" y="3314700"/>
            <a:ext cx="499258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Strong baseline model with interpretable results.</a:t>
            </a:r>
            <a:endParaRPr lang="en-US" sz="1200" dirty="0"/>
          </a:p>
        </p:txBody>
      </p:sp>
      <p:sp>
        <p:nvSpPr>
          <p:cNvPr id="34" name="Text 10"/>
          <p:cNvSpPr/>
          <p:nvPr/>
        </p:nvSpPr>
        <p:spPr>
          <a:xfrm>
            <a:off x="8088511" y="4057650"/>
            <a:ext cx="141231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Naïve Bayes</a:t>
            </a:r>
            <a:endParaRPr lang="en-US" sz="1350" dirty="0"/>
          </a:p>
        </p:txBody>
      </p:sp>
      <p:sp>
        <p:nvSpPr>
          <p:cNvPr id="35" name="Text 11"/>
          <p:cNvSpPr/>
          <p:nvPr/>
        </p:nvSpPr>
        <p:spPr>
          <a:xfrm>
            <a:off x="10645527" y="4038600"/>
            <a:ext cx="1535549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6B21A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AUC: 0.7977</a:t>
            </a:r>
            <a:endParaRPr lang="en-US" sz="1200" dirty="0"/>
          </a:p>
        </p:txBody>
      </p:sp>
      <p:sp>
        <p:nvSpPr>
          <p:cNvPr id="36" name="Text 12"/>
          <p:cNvSpPr/>
          <p:nvPr/>
        </p:nvSpPr>
        <p:spPr>
          <a:xfrm>
            <a:off x="7650361" y="4457700"/>
            <a:ext cx="499258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Slightly lower performance but still effective.</a:t>
            </a:r>
            <a:endParaRPr lang="en-US" sz="1200" dirty="0"/>
          </a:p>
        </p:txBody>
      </p:sp>
      <p:sp>
        <p:nvSpPr>
          <p:cNvPr id="37" name="Text 13"/>
          <p:cNvSpPr/>
          <p:nvPr/>
        </p:nvSpPr>
        <p:spPr>
          <a:xfrm>
            <a:off x="8107561" y="5200650"/>
            <a:ext cx="14998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SVM (Linear)</a:t>
            </a:r>
            <a:endParaRPr lang="en-US" sz="1350" dirty="0"/>
          </a:p>
        </p:txBody>
      </p:sp>
      <p:sp>
        <p:nvSpPr>
          <p:cNvPr id="38" name="Text 14"/>
          <p:cNvSpPr/>
          <p:nvPr/>
        </p:nvSpPr>
        <p:spPr>
          <a:xfrm>
            <a:off x="10645527" y="5181600"/>
            <a:ext cx="1535549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AUC: 0.5589</a:t>
            </a:r>
            <a:endParaRPr lang="en-US" sz="1200" dirty="0"/>
          </a:p>
        </p:txBody>
      </p:sp>
      <p:sp>
        <p:nvSpPr>
          <p:cNvPr id="39" name="Text 15"/>
          <p:cNvSpPr/>
          <p:nvPr/>
        </p:nvSpPr>
        <p:spPr>
          <a:xfrm>
            <a:off x="7650361" y="5600700"/>
            <a:ext cx="499258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Competitive but slower training time.</a:t>
            </a:r>
            <a:endParaRPr lang="en-US" sz="1200" dirty="0"/>
          </a:p>
        </p:txBody>
      </p:sp>
      <p:sp>
        <p:nvSpPr>
          <p:cNvPr id="41" name="Text 17"/>
          <p:cNvSpPr/>
          <p:nvPr/>
        </p:nvSpPr>
        <p:spPr>
          <a:xfrm>
            <a:off x="11341894" y="7820025"/>
            <a:ext cx="562928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21 / 25</a:t>
            </a:r>
            <a:endParaRPr lang="en-US" sz="1050" dirty="0"/>
          </a:p>
        </p:txBody>
      </p:sp>
      <p:pic>
        <p:nvPicPr>
          <p:cNvPr id="44" name="Image 3" descr="preencoded.png">
            <a:extLst>
              <a:ext uri="{FF2B5EF4-FFF2-40B4-BE49-F238E27FC236}">
                <a16:creationId xmlns:a16="http://schemas.microsoft.com/office/drawing/2014/main" id="{D6B5295A-A520-14F1-1116-8D4DC698FC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9" y="695324"/>
            <a:ext cx="6713787" cy="5257801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8F6DB31D-2766-F931-F0CC-AB980B01707F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46797" y="780047"/>
            <a:ext cx="6334101" cy="5058778"/>
          </a:xfrm>
          <a:prstGeom prst="rect">
            <a:avLst/>
          </a:prstGeom>
        </p:spPr>
      </p:pic>
      <p:pic>
        <p:nvPicPr>
          <p:cNvPr id="45" name="Image 1" descr="preencoded.png">
            <a:extLst>
              <a:ext uri="{FF2B5EF4-FFF2-40B4-BE49-F238E27FC236}">
                <a16:creationId xmlns:a16="http://schemas.microsoft.com/office/drawing/2014/main" id="{27B99579-EED7-824F-A133-8E44EEB26064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0" y="-34594"/>
            <a:ext cx="12228096" cy="666750"/>
          </a:xfrm>
          <a:prstGeom prst="rect">
            <a:avLst/>
          </a:prstGeom>
        </p:spPr>
      </p:pic>
      <p:sp>
        <p:nvSpPr>
          <p:cNvPr id="24" name="Text 0"/>
          <p:cNvSpPr/>
          <p:nvPr/>
        </p:nvSpPr>
        <p:spPr>
          <a:xfrm>
            <a:off x="381000" y="1524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sz="225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  <a:cs typeface="ui-sans-serif" pitchFamily="34" charset="-120"/>
              </a:rPr>
              <a:t>PHASE 4: </a:t>
            </a:r>
            <a:r>
              <a:rPr lang="en-IE" sz="2400" b="1" dirty="0">
                <a:solidFill>
                  <a:srgbClr val="F9FAFB"/>
                </a:solidFill>
                <a:effectLst/>
                <a:latin typeface="Avenir Next LT Pro Demi" panose="020B0704020202020204" pitchFamily="34" charset="0"/>
              </a:rPr>
              <a:t>Machine Learning Model Comparison</a:t>
            </a:r>
            <a:r>
              <a:rPr lang="en-US" sz="225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  <a:cs typeface="ui-sans-serif" pitchFamily="34" charset="-120"/>
              </a:rPr>
              <a:t> ROC Curve Analysis</a:t>
            </a:r>
            <a:endParaRPr lang="en-US" sz="2250" dirty="0">
              <a:latin typeface="Avenir Next LT Pro Demi" panose="020B0704020202020204" pitchFamily="34" charset="0"/>
            </a:endParaRPr>
          </a:p>
        </p:txBody>
      </p:sp>
      <p:sp>
        <p:nvSpPr>
          <p:cNvPr id="46" name="Text 1">
            <a:extLst>
              <a:ext uri="{FF2B5EF4-FFF2-40B4-BE49-F238E27FC236}">
                <a16:creationId xmlns:a16="http://schemas.microsoft.com/office/drawing/2014/main" id="{C15C22D0-DA41-4638-397E-077633DFD8CB}"/>
              </a:ext>
            </a:extLst>
          </p:cNvPr>
          <p:cNvSpPr/>
          <p:nvPr/>
        </p:nvSpPr>
        <p:spPr>
          <a:xfrm>
            <a:off x="10848975" y="200025"/>
            <a:ext cx="11544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10 of 14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756984"/>
            <a:ext cx="228600" cy="2286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595" y="1125707"/>
            <a:ext cx="7067910" cy="550744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2776" y="1178098"/>
            <a:ext cx="171450" cy="2286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68101" y="1539096"/>
            <a:ext cx="4694259" cy="2440305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07017" y="1787246"/>
            <a:ext cx="1247031" cy="280035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7459341" y="2221900"/>
            <a:ext cx="2046068" cy="720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9716913" y="2214235"/>
            <a:ext cx="2044800" cy="720000"/>
          </a:xfrm>
          <a:prstGeom prst="rect">
            <a:avLst/>
          </a:prstGeom>
        </p:spPr>
      </p:pic>
      <p:sp>
        <p:nvSpPr>
          <p:cNvPr id="18" name="Text 0"/>
          <p:cNvSpPr/>
          <p:nvPr/>
        </p:nvSpPr>
        <p:spPr>
          <a:xfrm>
            <a:off x="381000" y="161925"/>
            <a:ext cx="5915382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  <a:cs typeface="ui-sans-serif" pitchFamily="34" charset="-120"/>
              </a:rPr>
              <a:t>P4 Cont/…</a:t>
            </a:r>
            <a:r>
              <a:rPr lang="en-US" sz="225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  <a:cs typeface="ui-sans-serif" pitchFamily="34" charset="-120"/>
              </a:rPr>
              <a:t>Model Comparison &amp; Selection</a:t>
            </a:r>
            <a:endParaRPr lang="en-US" sz="2250" dirty="0">
              <a:latin typeface="Avenir Next LT Pro Demi" panose="020B0704020202020204" pitchFamily="34" charset="0"/>
            </a:endParaRPr>
          </a:p>
        </p:txBody>
      </p:sp>
      <p:sp>
        <p:nvSpPr>
          <p:cNvPr id="19" name="Text 1"/>
          <p:cNvSpPr/>
          <p:nvPr/>
        </p:nvSpPr>
        <p:spPr>
          <a:xfrm>
            <a:off x="10848975" y="200025"/>
            <a:ext cx="11544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11 of 14</a:t>
            </a:r>
            <a:endParaRPr lang="en-US" sz="1350" dirty="0"/>
          </a:p>
        </p:txBody>
      </p:sp>
      <p:sp>
        <p:nvSpPr>
          <p:cNvPr id="20" name="Text 2"/>
          <p:cNvSpPr/>
          <p:nvPr/>
        </p:nvSpPr>
        <p:spPr>
          <a:xfrm>
            <a:off x="647700" y="718884"/>
            <a:ext cx="667512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Model Performance Comparison</a:t>
            </a:r>
            <a:endParaRPr lang="en-US" sz="1800" dirty="0"/>
          </a:p>
        </p:txBody>
      </p:sp>
      <p:sp>
        <p:nvSpPr>
          <p:cNvPr id="25" name="Text 7"/>
          <p:cNvSpPr/>
          <p:nvPr/>
        </p:nvSpPr>
        <p:spPr>
          <a:xfrm>
            <a:off x="7688526" y="1139998"/>
            <a:ext cx="406219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Best Model: Random Forest</a:t>
            </a:r>
            <a:endParaRPr lang="en-US" sz="1800" dirty="0"/>
          </a:p>
        </p:txBody>
      </p:sp>
      <p:sp>
        <p:nvSpPr>
          <p:cNvPr id="26" name="Text 8"/>
          <p:cNvSpPr/>
          <p:nvPr/>
        </p:nvSpPr>
        <p:spPr>
          <a:xfrm>
            <a:off x="7464115" y="1751395"/>
            <a:ext cx="2046068" cy="28003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205"/>
              </a:lnSpc>
              <a:buNone/>
            </a:pPr>
            <a:r>
              <a:rPr lang="en-US" sz="1575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Random Forest</a:t>
            </a:r>
            <a:endParaRPr lang="en-US" sz="1575" dirty="0"/>
          </a:p>
        </p:txBody>
      </p:sp>
      <p:sp>
        <p:nvSpPr>
          <p:cNvPr id="27" name="Text 9"/>
          <p:cNvSpPr/>
          <p:nvPr/>
        </p:nvSpPr>
        <p:spPr>
          <a:xfrm>
            <a:off x="10627032" y="1787246"/>
            <a:ext cx="1496437" cy="28003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75"/>
              </a:lnSpc>
              <a:buNone/>
            </a:pPr>
            <a:r>
              <a:rPr lang="en-US" sz="1103" b="1" dirty="0">
                <a:solidFill>
                  <a:srgbClr val="9A3412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BEST MODEL</a:t>
            </a:r>
            <a:endParaRPr lang="en-US" sz="1103" dirty="0"/>
          </a:p>
        </p:txBody>
      </p:sp>
      <p:sp>
        <p:nvSpPr>
          <p:cNvPr id="28" name="Text 10"/>
          <p:cNvSpPr/>
          <p:nvPr/>
        </p:nvSpPr>
        <p:spPr>
          <a:xfrm>
            <a:off x="7558428" y="2259186"/>
            <a:ext cx="1258025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75"/>
              </a:lnSpc>
              <a:buNone/>
            </a:pPr>
            <a:r>
              <a:rPr lang="en-US" sz="1103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Test AUC</a:t>
            </a:r>
            <a:endParaRPr lang="en-US" sz="1103" dirty="0"/>
          </a:p>
        </p:txBody>
      </p:sp>
      <p:sp>
        <p:nvSpPr>
          <p:cNvPr id="29" name="Text 11"/>
          <p:cNvSpPr/>
          <p:nvPr/>
        </p:nvSpPr>
        <p:spPr>
          <a:xfrm>
            <a:off x="7558428" y="2459211"/>
            <a:ext cx="1258025" cy="32004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520"/>
              </a:lnSpc>
              <a:buNone/>
            </a:pPr>
            <a:r>
              <a:rPr lang="en-US" sz="1890" b="1" dirty="0">
                <a:solidFill>
                  <a:srgbClr val="0D948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0.8269</a:t>
            </a:r>
            <a:endParaRPr lang="en-US" sz="1890" dirty="0"/>
          </a:p>
        </p:txBody>
      </p:sp>
      <p:sp>
        <p:nvSpPr>
          <p:cNvPr id="30" name="Text 12"/>
          <p:cNvSpPr/>
          <p:nvPr/>
        </p:nvSpPr>
        <p:spPr>
          <a:xfrm>
            <a:off x="9797961" y="2272835"/>
            <a:ext cx="656221" cy="15716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75"/>
              </a:lnSpc>
              <a:buNone/>
            </a:pPr>
            <a:r>
              <a:rPr lang="en-US" sz="1103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Overfitting</a:t>
            </a:r>
            <a:endParaRPr lang="en-US" sz="1103" dirty="0"/>
          </a:p>
        </p:txBody>
      </p:sp>
      <p:sp>
        <p:nvSpPr>
          <p:cNvPr id="31" name="Text 13"/>
          <p:cNvSpPr/>
          <p:nvPr/>
        </p:nvSpPr>
        <p:spPr>
          <a:xfrm>
            <a:off x="9797961" y="2472859"/>
            <a:ext cx="872289" cy="32004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520"/>
              </a:lnSpc>
              <a:buNone/>
            </a:pPr>
            <a:r>
              <a:rPr lang="en-US" sz="1890" b="1" dirty="0">
                <a:solidFill>
                  <a:srgbClr val="0D948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0.0324</a:t>
            </a:r>
            <a:endParaRPr lang="en-US" sz="1890" dirty="0"/>
          </a:p>
        </p:txBody>
      </p:sp>
      <p:pic>
        <p:nvPicPr>
          <p:cNvPr id="41" name="Image 10" descr="preencoded.png">
            <a:extLst>
              <a:ext uri="{FF2B5EF4-FFF2-40B4-BE49-F238E27FC236}">
                <a16:creationId xmlns:a16="http://schemas.microsoft.com/office/drawing/2014/main" id="{ACC47D07-A683-82EB-C5DA-46587BF6A6B8}"/>
              </a:ext>
            </a:extLst>
          </p:cNvPr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7461613" y="3063513"/>
            <a:ext cx="2046068" cy="72000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0235DA56-589D-F69B-269A-CB0C95C2104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8042" y="1238250"/>
            <a:ext cx="6782811" cy="5384620"/>
          </a:xfrm>
          <a:prstGeom prst="rect">
            <a:avLst/>
          </a:prstGeom>
        </p:spPr>
      </p:pic>
      <p:sp>
        <p:nvSpPr>
          <p:cNvPr id="33" name="Text 15"/>
          <p:cNvSpPr/>
          <p:nvPr/>
        </p:nvSpPr>
        <p:spPr>
          <a:xfrm>
            <a:off x="7544783" y="3379326"/>
            <a:ext cx="1258025" cy="28003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205"/>
              </a:lnSpc>
              <a:buNone/>
            </a:pPr>
            <a:r>
              <a:rPr lang="en-US" sz="1575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0.9156</a:t>
            </a:r>
            <a:endParaRPr lang="en-US" sz="1575" dirty="0"/>
          </a:p>
        </p:txBody>
      </p:sp>
      <p:pic>
        <p:nvPicPr>
          <p:cNvPr id="42" name="Image 11" descr="preencoded.png">
            <a:extLst>
              <a:ext uri="{FF2B5EF4-FFF2-40B4-BE49-F238E27FC236}">
                <a16:creationId xmlns:a16="http://schemas.microsoft.com/office/drawing/2014/main" id="{71E801CF-E18B-7BAF-BB92-9E7661ED7E26}"/>
              </a:ext>
            </a:extLst>
          </p:cNvPr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9705922" y="2868506"/>
            <a:ext cx="2044800" cy="720000"/>
          </a:xfrm>
          <a:prstGeom prst="rect">
            <a:avLst/>
          </a:prstGeom>
        </p:spPr>
      </p:pic>
      <p:sp>
        <p:nvSpPr>
          <p:cNvPr id="32" name="Text 14"/>
          <p:cNvSpPr/>
          <p:nvPr/>
        </p:nvSpPr>
        <p:spPr>
          <a:xfrm>
            <a:off x="7544783" y="3179301"/>
            <a:ext cx="1258025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75"/>
              </a:lnSpc>
              <a:buNone/>
            </a:pPr>
            <a:r>
              <a:rPr lang="en-US" sz="1103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Accuracy</a:t>
            </a:r>
            <a:endParaRPr lang="en-US" sz="1103" dirty="0"/>
          </a:p>
        </p:txBody>
      </p:sp>
      <p:sp>
        <p:nvSpPr>
          <p:cNvPr id="34" name="Text 16"/>
          <p:cNvSpPr/>
          <p:nvPr/>
        </p:nvSpPr>
        <p:spPr>
          <a:xfrm>
            <a:off x="9797961" y="3158829"/>
            <a:ext cx="872289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75"/>
              </a:lnSpc>
              <a:buNone/>
            </a:pPr>
            <a:r>
              <a:rPr lang="en-US" sz="1103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Sensitivity</a:t>
            </a:r>
            <a:endParaRPr lang="en-US" sz="1103" dirty="0"/>
          </a:p>
        </p:txBody>
      </p:sp>
      <p:sp>
        <p:nvSpPr>
          <p:cNvPr id="35" name="Text 17"/>
          <p:cNvSpPr/>
          <p:nvPr/>
        </p:nvSpPr>
        <p:spPr>
          <a:xfrm>
            <a:off x="9797961" y="3396954"/>
            <a:ext cx="740442" cy="24193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205"/>
              </a:lnSpc>
              <a:buNone/>
            </a:pPr>
            <a:r>
              <a:rPr lang="en-US" sz="1575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0.0422</a:t>
            </a:r>
            <a:endParaRPr lang="en-US" sz="1575" dirty="0"/>
          </a:p>
        </p:txBody>
      </p:sp>
      <p:pic>
        <p:nvPicPr>
          <p:cNvPr id="43" name="Image 8" descr="preencoded.png">
            <a:extLst>
              <a:ext uri="{FF2B5EF4-FFF2-40B4-BE49-F238E27FC236}">
                <a16:creationId xmlns:a16="http://schemas.microsoft.com/office/drawing/2014/main" id="{7D8080A5-5621-6E89-E01F-0B8000B1190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79264" y="4166200"/>
            <a:ext cx="4694259" cy="2440305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51107" y="4626843"/>
            <a:ext cx="190500" cy="190500"/>
          </a:xfrm>
          <a:prstGeom prst="rect">
            <a:avLst/>
          </a:prstGeom>
        </p:spPr>
      </p:pic>
      <p:sp>
        <p:nvSpPr>
          <p:cNvPr id="21" name="Text 3"/>
          <p:cNvSpPr/>
          <p:nvPr/>
        </p:nvSpPr>
        <p:spPr>
          <a:xfrm>
            <a:off x="7817807" y="4588743"/>
            <a:ext cx="5181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Selection Criteria</a:t>
            </a:r>
            <a:endParaRPr lang="en-US" sz="1500" dirty="0"/>
          </a:p>
        </p:txBody>
      </p:sp>
      <p:sp>
        <p:nvSpPr>
          <p:cNvPr id="22" name="Text 4"/>
          <p:cNvSpPr/>
          <p:nvPr/>
        </p:nvSpPr>
        <p:spPr>
          <a:xfrm>
            <a:off x="7558727" y="4992377"/>
            <a:ext cx="6172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Highest Test AUC: </a:t>
            </a:r>
            <a:r>
              <a:rPr lang="en-US" sz="120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Random Forest (0.8269)</a:t>
            </a:r>
            <a:endParaRPr lang="en-US" sz="1200" dirty="0"/>
          </a:p>
        </p:txBody>
      </p:sp>
      <p:sp>
        <p:nvSpPr>
          <p:cNvPr id="23" name="Text 5"/>
          <p:cNvSpPr/>
          <p:nvPr/>
        </p:nvSpPr>
        <p:spPr>
          <a:xfrm>
            <a:off x="7558727" y="5355333"/>
            <a:ext cx="6172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Lowest Overfitting: </a:t>
            </a:r>
            <a:r>
              <a:rPr lang="en-US" sz="120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Random Forest (0.0324)</a:t>
            </a:r>
            <a:endParaRPr lang="en-US" sz="1200" dirty="0"/>
          </a:p>
        </p:txBody>
      </p:sp>
      <p:sp>
        <p:nvSpPr>
          <p:cNvPr id="24" name="Text 6"/>
          <p:cNvSpPr/>
          <p:nvPr/>
        </p:nvSpPr>
        <p:spPr>
          <a:xfrm>
            <a:off x="7558727" y="5706257"/>
            <a:ext cx="6172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Balance of Accuracy, Sensitivity, and Precision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EAA47-09D6-5DC7-D0C7-657FCE92E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8E4078FB-94F5-4511-B22F-A5E8B6E317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ED27E9FA-C29A-28F7-B0DB-73C5242462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58E98C8D-058B-B40D-4ED4-BECAEC2CFF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789911"/>
            <a:ext cx="228600" cy="228600"/>
          </a:xfrm>
          <a:prstGeom prst="rect">
            <a:avLst/>
          </a:prstGeom>
        </p:spPr>
      </p:pic>
      <p:pic>
        <p:nvPicPr>
          <p:cNvPr id="17" name="Image 15" descr="preencoded.png">
            <a:extLst>
              <a:ext uri="{FF2B5EF4-FFF2-40B4-BE49-F238E27FC236}">
                <a16:creationId xmlns:a16="http://schemas.microsoft.com/office/drawing/2014/main" id="{40C0ABDA-1381-9E7B-D651-F1348C0267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33980" y="3848100"/>
            <a:ext cx="1762720" cy="762000"/>
          </a:xfrm>
          <a:prstGeom prst="rect">
            <a:avLst/>
          </a:prstGeom>
        </p:spPr>
      </p:pic>
      <p:sp>
        <p:nvSpPr>
          <p:cNvPr id="18" name="Text 0">
            <a:extLst>
              <a:ext uri="{FF2B5EF4-FFF2-40B4-BE49-F238E27FC236}">
                <a16:creationId xmlns:a16="http://schemas.microsoft.com/office/drawing/2014/main" id="{70E0F009-23CF-016C-EF57-B5D1B789B184}"/>
              </a:ext>
            </a:extLst>
          </p:cNvPr>
          <p:cNvSpPr/>
          <p:nvPr/>
        </p:nvSpPr>
        <p:spPr>
          <a:xfrm>
            <a:off x="381000" y="161925"/>
            <a:ext cx="715982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sz="2250" b="1" dirty="0">
                <a:solidFill>
                  <a:srgbClr val="FFFFFF"/>
                </a:solidFill>
                <a:effectLst/>
                <a:latin typeface="Avenir Next LT Pro Demi" panose="020B0704020202020204" pitchFamily="34" charset="0"/>
                <a:ea typeface="ui-sans-serif" pitchFamily="34" charset="-122"/>
              </a:rPr>
              <a:t>P4 Co</a:t>
            </a:r>
            <a:r>
              <a:rPr lang="en-US" sz="225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</a:rPr>
              <a:t>nt/… Model Selection Rationale</a:t>
            </a:r>
            <a:endParaRPr lang="en-IE" sz="2400" b="1" dirty="0">
              <a:solidFill>
                <a:srgbClr val="F9FAFB"/>
              </a:solidFill>
              <a:effectLst/>
              <a:latin typeface="Avenir Next LT Pro Demi" panose="020B0704020202020204" pitchFamily="34" charset="0"/>
            </a:endParaRPr>
          </a:p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</a:rPr>
              <a:t>  </a:t>
            </a:r>
            <a:endParaRPr lang="en-US" sz="2250" dirty="0">
              <a:latin typeface="Avenir Next LT Pro Demi" panose="020B0704020202020204" pitchFamily="34" charset="0"/>
            </a:endParaRPr>
          </a:p>
        </p:txBody>
      </p:sp>
      <p:sp>
        <p:nvSpPr>
          <p:cNvPr id="19" name="Text 1">
            <a:extLst>
              <a:ext uri="{FF2B5EF4-FFF2-40B4-BE49-F238E27FC236}">
                <a16:creationId xmlns:a16="http://schemas.microsoft.com/office/drawing/2014/main" id="{FC7D5E1B-DE07-2C00-BEB5-CC42BF5520A6}"/>
              </a:ext>
            </a:extLst>
          </p:cNvPr>
          <p:cNvSpPr/>
          <p:nvPr/>
        </p:nvSpPr>
        <p:spPr>
          <a:xfrm>
            <a:off x="10848975" y="200025"/>
            <a:ext cx="11544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12 of 14</a:t>
            </a:r>
            <a:endParaRPr lang="en-US" sz="1350" dirty="0"/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F377B50B-FC6C-D687-95EB-51E1D1BCCE79}"/>
              </a:ext>
            </a:extLst>
          </p:cNvPr>
          <p:cNvSpPr/>
          <p:nvPr/>
        </p:nvSpPr>
        <p:spPr>
          <a:xfrm>
            <a:off x="647700" y="751811"/>
            <a:ext cx="5562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</a:rPr>
              <a:t>Reasons for Selection</a:t>
            </a:r>
            <a:endParaRPr lang="en-US" sz="1800" dirty="0"/>
          </a:p>
        </p:txBody>
      </p:sp>
      <p:pic>
        <p:nvPicPr>
          <p:cNvPr id="47" name="Image 13" descr="preencoded.png">
            <a:extLst>
              <a:ext uri="{FF2B5EF4-FFF2-40B4-BE49-F238E27FC236}">
                <a16:creationId xmlns:a16="http://schemas.microsoft.com/office/drawing/2014/main" id="{51B6E42F-575C-E16C-CB9A-359EBE64C02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117" y="1131035"/>
            <a:ext cx="11885288" cy="1197701"/>
          </a:xfrm>
          <a:prstGeom prst="rect">
            <a:avLst/>
          </a:prstGeom>
        </p:spPr>
      </p:pic>
      <p:sp>
        <p:nvSpPr>
          <p:cNvPr id="21" name="Text 3">
            <a:extLst>
              <a:ext uri="{FF2B5EF4-FFF2-40B4-BE49-F238E27FC236}">
                <a16:creationId xmlns:a16="http://schemas.microsoft.com/office/drawing/2014/main" id="{C5C830FC-F17E-FB73-9AB9-12D29C99DAD3}"/>
              </a:ext>
            </a:extLst>
          </p:cNvPr>
          <p:cNvSpPr/>
          <p:nvPr/>
        </p:nvSpPr>
        <p:spPr>
          <a:xfrm>
            <a:off x="304799" y="1142564"/>
            <a:ext cx="11698605" cy="109737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4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quote-cjk-patch"/>
              </a:rPr>
              <a:t>Trade-off:</a:t>
            </a:r>
            <a:r>
              <a:rPr lang="en-GB" sz="14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quote-cjk-patch"/>
              </a:rPr>
              <a:t> The primary weakness of the Random Forest model is its very low sensitivity (4.22%) when using default settings. However, for a deployment scenario, the </a:t>
            </a:r>
            <a:r>
              <a:rPr lang="en-GB" sz="14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quote-cjk-patch"/>
              </a:rPr>
              <a:t>probability scores</a:t>
            </a:r>
            <a:r>
              <a:rPr lang="en-GB" sz="14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quote-cjk-patch"/>
              </a:rPr>
              <a:t> it generates can be used with the </a:t>
            </a:r>
            <a:r>
              <a:rPr lang="en-GB" sz="14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quote-cjk-patch"/>
              </a:rPr>
              <a:t>optimized threshold (0.0782)</a:t>
            </a:r>
            <a:r>
              <a:rPr lang="en-GB" sz="14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quote-cjk-patch"/>
              </a:rPr>
              <a:t> discovered during the Logistic Regression phase, which would restore high sensitivity. The Random Forest's strength lies in its superior ranking of instances (high AUC).</a:t>
            </a:r>
          </a:p>
        </p:txBody>
      </p:sp>
      <p:pic>
        <p:nvPicPr>
          <p:cNvPr id="5" name="Image 13" descr="preencoded.png">
            <a:extLst>
              <a:ext uri="{FF2B5EF4-FFF2-40B4-BE49-F238E27FC236}">
                <a16:creationId xmlns:a16="http://schemas.microsoft.com/office/drawing/2014/main" id="{63C8A7F7-9240-3AFD-75A3-091E3D0A64B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1215" y="2441260"/>
            <a:ext cx="11885288" cy="42548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9A18CB7-2801-01DF-2C5D-3FE592ECC5F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b="7325"/>
          <a:stretch>
            <a:fillRect/>
          </a:stretch>
        </p:blipFill>
        <p:spPr>
          <a:xfrm>
            <a:off x="2266366" y="2521080"/>
            <a:ext cx="7392870" cy="4097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9863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09650"/>
            <a:ext cx="228600" cy="2286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" y="1428750"/>
            <a:ext cx="5562600" cy="4953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0" y="1543050"/>
            <a:ext cx="190500" cy="2667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4800" y="2038350"/>
            <a:ext cx="5562600" cy="4953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9100" y="2152650"/>
            <a:ext cx="142875" cy="2667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4800" y="2647950"/>
            <a:ext cx="5562600" cy="4953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9100" y="2762250"/>
            <a:ext cx="238125" cy="2667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04800" y="3257550"/>
            <a:ext cx="5562600" cy="4953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9100" y="3371850"/>
            <a:ext cx="171450" cy="2667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04800" y="4019550"/>
            <a:ext cx="228600" cy="2286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04800" y="4438650"/>
            <a:ext cx="1777901" cy="8001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197001" y="4438650"/>
            <a:ext cx="1778050" cy="8001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089350" y="4438650"/>
            <a:ext cx="1778050" cy="8001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24600" y="1009650"/>
            <a:ext cx="171450" cy="2286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324600" y="1428750"/>
            <a:ext cx="5562600" cy="19050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515100" y="1657350"/>
            <a:ext cx="190500" cy="1905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515100" y="2038350"/>
            <a:ext cx="152400" cy="152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515100" y="2506487"/>
            <a:ext cx="1524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515100" y="2952750"/>
            <a:ext cx="15240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324600" y="3562350"/>
            <a:ext cx="5562600" cy="18288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515100" y="3790950"/>
            <a:ext cx="219075" cy="1905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515100" y="4133850"/>
            <a:ext cx="457200" cy="4572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648450" y="4229100"/>
            <a:ext cx="190500" cy="2667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182100" y="4133850"/>
            <a:ext cx="457200" cy="4572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324975" y="4229100"/>
            <a:ext cx="171450" cy="2667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515100" y="4743450"/>
            <a:ext cx="457200" cy="4572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634163" y="4838700"/>
            <a:ext cx="219075" cy="2667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9182100" y="4743450"/>
            <a:ext cx="457200" cy="4572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301163" y="4838700"/>
            <a:ext cx="219075" cy="266700"/>
          </a:xfrm>
          <a:prstGeom prst="rect">
            <a:avLst/>
          </a:prstGeom>
        </p:spPr>
      </p:pic>
      <p:sp>
        <p:nvSpPr>
          <p:cNvPr id="33" name="Text 0"/>
          <p:cNvSpPr/>
          <p:nvPr/>
        </p:nvSpPr>
        <p:spPr>
          <a:xfrm>
            <a:off x="381000" y="161925"/>
            <a:ext cx="6594396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  <a:cs typeface="ui-sans-serif" pitchFamily="34" charset="-120"/>
              </a:rPr>
              <a:t>Key Summary Findings &amp; Recommendations</a:t>
            </a:r>
            <a:endParaRPr lang="en-US" sz="2250" dirty="0">
              <a:latin typeface="Avenir Next LT Pro Demi" panose="020B0704020202020204" pitchFamily="34" charset="0"/>
            </a:endParaRPr>
          </a:p>
        </p:txBody>
      </p:sp>
      <p:sp>
        <p:nvSpPr>
          <p:cNvPr id="34" name="Text 1"/>
          <p:cNvSpPr/>
          <p:nvPr/>
        </p:nvSpPr>
        <p:spPr>
          <a:xfrm>
            <a:off x="10848975" y="200025"/>
            <a:ext cx="11544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13 of 14</a:t>
            </a:r>
            <a:endParaRPr lang="en-US" sz="1350" dirty="0"/>
          </a:p>
        </p:txBody>
      </p:sp>
      <p:sp>
        <p:nvSpPr>
          <p:cNvPr id="35" name="Text 2"/>
          <p:cNvSpPr/>
          <p:nvPr/>
        </p:nvSpPr>
        <p:spPr>
          <a:xfrm>
            <a:off x="647700" y="971550"/>
            <a:ext cx="5562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Key Findings</a:t>
            </a:r>
            <a:endParaRPr lang="en-US" sz="1800" dirty="0"/>
          </a:p>
        </p:txBody>
      </p:sp>
      <p:sp>
        <p:nvSpPr>
          <p:cNvPr id="36" name="Text 3"/>
          <p:cNvSpPr/>
          <p:nvPr/>
        </p:nvSpPr>
        <p:spPr>
          <a:xfrm>
            <a:off x="723900" y="1562100"/>
            <a:ext cx="304680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Stroke History:</a:t>
            </a:r>
            <a:r>
              <a:rPr lang="en-US" sz="120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4.9x higher risk</a:t>
            </a:r>
            <a:endParaRPr lang="en-US" sz="1200" dirty="0"/>
          </a:p>
        </p:txBody>
      </p:sp>
      <p:sp>
        <p:nvSpPr>
          <p:cNvPr id="37" name="Text 4"/>
          <p:cNvSpPr/>
          <p:nvPr/>
        </p:nvSpPr>
        <p:spPr>
          <a:xfrm>
            <a:off x="676275" y="2171700"/>
            <a:ext cx="277391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Diabetes:</a:t>
            </a:r>
            <a:r>
              <a:rPr lang="en-US" sz="120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3.2x increased risk</a:t>
            </a:r>
            <a:endParaRPr lang="en-US" sz="1200" dirty="0"/>
          </a:p>
        </p:txBody>
      </p:sp>
      <p:sp>
        <p:nvSpPr>
          <p:cNvPr id="38" name="Text 5"/>
          <p:cNvSpPr/>
          <p:nvPr/>
        </p:nvSpPr>
        <p:spPr>
          <a:xfrm>
            <a:off x="771525" y="2781300"/>
            <a:ext cx="340310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Gender:</a:t>
            </a:r>
            <a:r>
              <a:rPr lang="en-US" sz="120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Males have 1.6x higher risk</a:t>
            </a:r>
            <a:endParaRPr lang="en-US" sz="1200" dirty="0"/>
          </a:p>
        </p:txBody>
      </p:sp>
      <p:sp>
        <p:nvSpPr>
          <p:cNvPr id="39" name="Text 6"/>
          <p:cNvSpPr/>
          <p:nvPr/>
        </p:nvSpPr>
        <p:spPr>
          <a:xfrm>
            <a:off x="704850" y="3390900"/>
            <a:ext cx="334506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Physical Activity:</a:t>
            </a:r>
            <a:r>
              <a:rPr lang="en-US" sz="120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Protective factor</a:t>
            </a:r>
            <a:endParaRPr lang="en-US" sz="1200" dirty="0"/>
          </a:p>
        </p:txBody>
      </p:sp>
      <p:sp>
        <p:nvSpPr>
          <p:cNvPr id="40" name="Text 7"/>
          <p:cNvSpPr/>
          <p:nvPr/>
        </p:nvSpPr>
        <p:spPr>
          <a:xfrm>
            <a:off x="647700" y="3981450"/>
            <a:ext cx="667512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Best Model Performance: Random Forest</a:t>
            </a:r>
            <a:endParaRPr lang="en-US" sz="1800" dirty="0"/>
          </a:p>
        </p:txBody>
      </p:sp>
      <p:sp>
        <p:nvSpPr>
          <p:cNvPr id="41" name="Text 8"/>
          <p:cNvSpPr/>
          <p:nvPr/>
        </p:nvSpPr>
        <p:spPr>
          <a:xfrm>
            <a:off x="264170" y="4552950"/>
            <a:ext cx="185916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0D948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Test AUC</a:t>
            </a:r>
            <a:endParaRPr lang="en-US" sz="1350" dirty="0"/>
          </a:p>
        </p:txBody>
      </p:sp>
      <p:sp>
        <p:nvSpPr>
          <p:cNvPr id="42" name="Text 9"/>
          <p:cNvSpPr/>
          <p:nvPr/>
        </p:nvSpPr>
        <p:spPr>
          <a:xfrm>
            <a:off x="264170" y="4819650"/>
            <a:ext cx="185916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0.8269</a:t>
            </a:r>
            <a:endParaRPr lang="en-US" sz="1800" dirty="0"/>
          </a:p>
        </p:txBody>
      </p:sp>
      <p:sp>
        <p:nvSpPr>
          <p:cNvPr id="43" name="Text 10"/>
          <p:cNvSpPr/>
          <p:nvPr/>
        </p:nvSpPr>
        <p:spPr>
          <a:xfrm>
            <a:off x="2156356" y="4552950"/>
            <a:ext cx="18593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0D948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Accuracy</a:t>
            </a:r>
            <a:endParaRPr lang="en-US" sz="1350" dirty="0"/>
          </a:p>
        </p:txBody>
      </p:sp>
      <p:sp>
        <p:nvSpPr>
          <p:cNvPr id="44" name="Text 11"/>
          <p:cNvSpPr/>
          <p:nvPr/>
        </p:nvSpPr>
        <p:spPr>
          <a:xfrm>
            <a:off x="2156356" y="4819650"/>
            <a:ext cx="18593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0.9156</a:t>
            </a:r>
            <a:endParaRPr lang="en-US" sz="1800" dirty="0"/>
          </a:p>
        </p:txBody>
      </p:sp>
      <p:sp>
        <p:nvSpPr>
          <p:cNvPr id="45" name="Text 12"/>
          <p:cNvSpPr/>
          <p:nvPr/>
        </p:nvSpPr>
        <p:spPr>
          <a:xfrm>
            <a:off x="4048705" y="4552950"/>
            <a:ext cx="18593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0D948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Precision</a:t>
            </a:r>
            <a:endParaRPr lang="en-US" sz="1350" dirty="0"/>
          </a:p>
        </p:txBody>
      </p:sp>
      <p:sp>
        <p:nvSpPr>
          <p:cNvPr id="46" name="Text 13"/>
          <p:cNvSpPr/>
          <p:nvPr/>
        </p:nvSpPr>
        <p:spPr>
          <a:xfrm>
            <a:off x="4048705" y="4819650"/>
            <a:ext cx="18593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0.6000</a:t>
            </a:r>
            <a:endParaRPr lang="en-US" sz="1800" dirty="0"/>
          </a:p>
        </p:txBody>
      </p:sp>
      <p:sp>
        <p:nvSpPr>
          <p:cNvPr id="47" name="Text 14"/>
          <p:cNvSpPr/>
          <p:nvPr/>
        </p:nvSpPr>
        <p:spPr>
          <a:xfrm>
            <a:off x="6610350" y="971550"/>
            <a:ext cx="5562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Recommendations</a:t>
            </a:r>
            <a:endParaRPr lang="en-US" sz="1800" dirty="0"/>
          </a:p>
        </p:txBody>
      </p:sp>
      <p:sp>
        <p:nvSpPr>
          <p:cNvPr id="48" name="Text 15"/>
          <p:cNvSpPr/>
          <p:nvPr/>
        </p:nvSpPr>
        <p:spPr>
          <a:xfrm>
            <a:off x="6781800" y="1619250"/>
            <a:ext cx="5181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766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Deployment Plan</a:t>
            </a:r>
            <a:endParaRPr lang="en-US" sz="1500" dirty="0"/>
          </a:p>
        </p:txBody>
      </p:sp>
      <p:sp>
        <p:nvSpPr>
          <p:cNvPr id="49" name="Text 16"/>
          <p:cNvSpPr/>
          <p:nvPr/>
        </p:nvSpPr>
        <p:spPr>
          <a:xfrm>
            <a:off x="6781800" y="2000250"/>
            <a:ext cx="49149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Deploy Random Forest model into a real-time prediction dashboard</a:t>
            </a:r>
            <a:endParaRPr lang="en-US" sz="1200" dirty="0"/>
          </a:p>
        </p:txBody>
      </p:sp>
      <p:sp>
        <p:nvSpPr>
          <p:cNvPr id="50" name="Text 17"/>
          <p:cNvSpPr/>
          <p:nvPr/>
        </p:nvSpPr>
        <p:spPr>
          <a:xfrm>
            <a:off x="6781800" y="2468387"/>
            <a:ext cx="443537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Used Streamlit for the dashboard </a:t>
            </a:r>
            <a:r>
              <a:rPr lang="en-US" sz="120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implementation click HERE</a:t>
            </a:r>
            <a:endParaRPr lang="en-US" sz="1200" dirty="0"/>
          </a:p>
        </p:txBody>
      </p:sp>
      <p:sp>
        <p:nvSpPr>
          <p:cNvPr id="51" name="Text 18"/>
          <p:cNvSpPr/>
          <p:nvPr/>
        </p:nvSpPr>
        <p:spPr>
          <a:xfrm>
            <a:off x="6781800" y="2914650"/>
            <a:ext cx="5433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Target healthcare professionals for clinical decision support</a:t>
            </a:r>
            <a:endParaRPr lang="en-US" sz="1200" dirty="0"/>
          </a:p>
        </p:txBody>
      </p:sp>
      <p:sp>
        <p:nvSpPr>
          <p:cNvPr id="52" name="Text 19"/>
          <p:cNvSpPr/>
          <p:nvPr/>
        </p:nvSpPr>
        <p:spPr>
          <a:xfrm>
            <a:off x="6810375" y="3752850"/>
            <a:ext cx="5181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766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Expected Benefits</a:t>
            </a:r>
            <a:endParaRPr lang="en-US" sz="1500" dirty="0"/>
          </a:p>
        </p:txBody>
      </p:sp>
      <p:sp>
        <p:nvSpPr>
          <p:cNvPr id="53" name="Text 20"/>
          <p:cNvSpPr/>
          <p:nvPr/>
        </p:nvSpPr>
        <p:spPr>
          <a:xfrm>
            <a:off x="7086600" y="4248150"/>
            <a:ext cx="163306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Early intervention</a:t>
            </a:r>
            <a:endParaRPr lang="en-US" sz="1200" dirty="0"/>
          </a:p>
        </p:txBody>
      </p:sp>
      <p:sp>
        <p:nvSpPr>
          <p:cNvPr id="54" name="Text 21"/>
          <p:cNvSpPr/>
          <p:nvPr/>
        </p:nvSpPr>
        <p:spPr>
          <a:xfrm>
            <a:off x="9753600" y="4248150"/>
            <a:ext cx="109120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Patient care</a:t>
            </a:r>
            <a:endParaRPr lang="en-US" sz="1200" dirty="0"/>
          </a:p>
        </p:txBody>
      </p:sp>
      <p:sp>
        <p:nvSpPr>
          <p:cNvPr id="55" name="Text 22"/>
          <p:cNvSpPr/>
          <p:nvPr/>
        </p:nvSpPr>
        <p:spPr>
          <a:xfrm>
            <a:off x="7086600" y="4857750"/>
            <a:ext cx="182415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Improved outcomes</a:t>
            </a:r>
            <a:endParaRPr lang="en-US" sz="1200" dirty="0"/>
          </a:p>
        </p:txBody>
      </p:sp>
      <p:sp>
        <p:nvSpPr>
          <p:cNvPr id="56" name="Text 23"/>
          <p:cNvSpPr/>
          <p:nvPr/>
        </p:nvSpPr>
        <p:spPr>
          <a:xfrm>
            <a:off x="9753600" y="4857750"/>
            <a:ext cx="203471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Resource optimization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1793A-B416-88BE-DE02-106714814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319710E1-7D74-CF9A-F59C-B7E7FD5D4F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8D553D20-31AF-2F90-2C7B-C61571327C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38F00137-ABB1-0B6E-54F1-B375DFD2C4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09650"/>
            <a:ext cx="228600" cy="228600"/>
          </a:xfrm>
          <a:prstGeom prst="rect">
            <a:avLst/>
          </a:prstGeom>
        </p:spPr>
      </p:pic>
      <p:pic>
        <p:nvPicPr>
          <p:cNvPr id="17" name="Image 15" descr="preencoded.png">
            <a:extLst>
              <a:ext uri="{FF2B5EF4-FFF2-40B4-BE49-F238E27FC236}">
                <a16:creationId xmlns:a16="http://schemas.microsoft.com/office/drawing/2014/main" id="{1BA58752-563E-BBA5-217B-14A6CB6967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33980" y="3848100"/>
            <a:ext cx="1762720" cy="762000"/>
          </a:xfrm>
          <a:prstGeom prst="rect">
            <a:avLst/>
          </a:prstGeom>
        </p:spPr>
      </p:pic>
      <p:sp>
        <p:nvSpPr>
          <p:cNvPr id="18" name="Text 0">
            <a:extLst>
              <a:ext uri="{FF2B5EF4-FFF2-40B4-BE49-F238E27FC236}">
                <a16:creationId xmlns:a16="http://schemas.microsoft.com/office/drawing/2014/main" id="{E98E1561-0A89-4943-55D1-C6CB208DACD0}"/>
              </a:ext>
            </a:extLst>
          </p:cNvPr>
          <p:cNvSpPr/>
          <p:nvPr/>
        </p:nvSpPr>
        <p:spPr>
          <a:xfrm>
            <a:off x="381000" y="161925"/>
            <a:ext cx="715982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sz="2250" b="1" dirty="0">
                <a:solidFill>
                  <a:srgbClr val="FFFFFF"/>
                </a:solidFill>
                <a:effectLst/>
                <a:latin typeface="Avenir Next LT Pro Demi" panose="020B0704020202020204" pitchFamily="34" charset="0"/>
                <a:ea typeface="ui-sans-serif" pitchFamily="34" charset="-122"/>
              </a:rPr>
              <a:t>Conclusion</a:t>
            </a:r>
            <a:endParaRPr lang="en-IE" sz="2400" b="1" dirty="0">
              <a:solidFill>
                <a:srgbClr val="F9FAFB"/>
              </a:solidFill>
              <a:effectLst/>
              <a:latin typeface="Avenir Next LT Pro Demi" panose="020B0704020202020204" pitchFamily="34" charset="0"/>
            </a:endParaRPr>
          </a:p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</a:rPr>
              <a:t>  </a:t>
            </a:r>
            <a:endParaRPr lang="en-US" sz="2250" dirty="0">
              <a:latin typeface="Avenir Next LT Pro Demi" panose="020B0704020202020204" pitchFamily="34" charset="0"/>
            </a:endParaRPr>
          </a:p>
        </p:txBody>
      </p:sp>
      <p:sp>
        <p:nvSpPr>
          <p:cNvPr id="19" name="Text 1">
            <a:extLst>
              <a:ext uri="{FF2B5EF4-FFF2-40B4-BE49-F238E27FC236}">
                <a16:creationId xmlns:a16="http://schemas.microsoft.com/office/drawing/2014/main" id="{C2C7987D-144B-47F3-C3E3-CB7BDA5C59B9}"/>
              </a:ext>
            </a:extLst>
          </p:cNvPr>
          <p:cNvSpPr/>
          <p:nvPr/>
        </p:nvSpPr>
        <p:spPr>
          <a:xfrm>
            <a:off x="10848975" y="200025"/>
            <a:ext cx="11544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14 of 14</a:t>
            </a:r>
            <a:endParaRPr lang="en-US" sz="1350" dirty="0"/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AB9C7E75-129D-D2E7-E687-24EE19D6CF1A}"/>
              </a:ext>
            </a:extLst>
          </p:cNvPr>
          <p:cNvSpPr/>
          <p:nvPr/>
        </p:nvSpPr>
        <p:spPr>
          <a:xfrm>
            <a:off x="647700" y="971550"/>
            <a:ext cx="5562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</a:rPr>
              <a:t>Summary and Recommendations</a:t>
            </a:r>
            <a:endParaRPr lang="en-US" sz="1800" dirty="0"/>
          </a:p>
        </p:txBody>
      </p:sp>
      <p:pic>
        <p:nvPicPr>
          <p:cNvPr id="47" name="Image 13" descr="preencoded.png">
            <a:extLst>
              <a:ext uri="{FF2B5EF4-FFF2-40B4-BE49-F238E27FC236}">
                <a16:creationId xmlns:a16="http://schemas.microsoft.com/office/drawing/2014/main" id="{6E590B9C-7F90-F4B9-2AB4-D7847E9C63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117" y="1379120"/>
            <a:ext cx="6926566" cy="5316955"/>
          </a:xfrm>
          <a:prstGeom prst="rect">
            <a:avLst/>
          </a:prstGeom>
        </p:spPr>
      </p:pic>
      <p:sp>
        <p:nvSpPr>
          <p:cNvPr id="21" name="Text 3">
            <a:extLst>
              <a:ext uri="{FF2B5EF4-FFF2-40B4-BE49-F238E27FC236}">
                <a16:creationId xmlns:a16="http://schemas.microsoft.com/office/drawing/2014/main" id="{B43A75F9-4BB1-1F71-D07C-A1F4E7511F25}"/>
              </a:ext>
            </a:extLst>
          </p:cNvPr>
          <p:cNvSpPr/>
          <p:nvPr/>
        </p:nvSpPr>
        <p:spPr>
          <a:xfrm>
            <a:off x="304800" y="1390649"/>
            <a:ext cx="6553200" cy="48657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lang="en-GB" sz="1400" b="0" i="0" dirty="0">
              <a:effectLst/>
              <a:latin typeface="quote-cjk-patch"/>
            </a:endParaRPr>
          </a:p>
        </p:txBody>
      </p:sp>
      <p:pic>
        <p:nvPicPr>
          <p:cNvPr id="5" name="Image 13" descr="preencoded.png">
            <a:extLst>
              <a:ext uri="{FF2B5EF4-FFF2-40B4-BE49-F238E27FC236}">
                <a16:creationId xmlns:a16="http://schemas.microsoft.com/office/drawing/2014/main" id="{225FA85E-5095-22FE-306F-A5A809D575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6912" y="1364581"/>
            <a:ext cx="4710288" cy="528086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743409E-DAC1-70BD-C176-593FE0E56A17}"/>
              </a:ext>
            </a:extLst>
          </p:cNvPr>
          <p:cNvSpPr txBox="1"/>
          <p:nvPr/>
        </p:nvSpPr>
        <p:spPr>
          <a:xfrm>
            <a:off x="353156" y="1535595"/>
            <a:ext cx="6553199" cy="5040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5000"/>
              </a:lnSpc>
              <a:spcAft>
                <a:spcPts val="800"/>
              </a:spcAft>
              <a:buNone/>
            </a:pPr>
            <a:r>
              <a:rPr lang="en-IE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This project successfully identified the key factors associated with heart disease and developed a high-performing predictive model.</a:t>
            </a:r>
          </a:p>
          <a:p>
            <a:pPr marL="342900" lvl="0" indent="-342900" algn="just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E" sz="1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Top Risk Factors:</a:t>
            </a:r>
            <a:r>
              <a:rPr lang="en-IE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Stroke History, Diabetes, Kidney Disease, Difficulty Walking, and Smoking.</a:t>
            </a:r>
          </a:p>
          <a:p>
            <a:pPr marL="342900" lvl="0" indent="-342900" algn="just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E" sz="1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Protective Factors:</a:t>
            </a:r>
            <a:r>
              <a:rPr lang="en-IE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Physical Activity and moderate Alcohol Consumption.</a:t>
            </a:r>
          </a:p>
          <a:p>
            <a:pPr marL="342900" lvl="0" indent="-342900" algn="just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E" sz="1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Demographics:</a:t>
            </a:r>
            <a:r>
              <a:rPr lang="en-IE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Risk increases significantly with age and is higher in males.</a:t>
            </a:r>
          </a:p>
          <a:p>
            <a:pPr marL="342900" lvl="0" indent="-342900" algn="just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E" sz="1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Compounding Risk:</a:t>
            </a:r>
            <a:r>
              <a:rPr lang="en-IE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Combinations of factors (e.g., Diabetes and Old Age) lead to exponentially higher risk.</a:t>
            </a:r>
          </a:p>
          <a:p>
            <a:pPr marL="342900" lvl="0" indent="-342900" algn="just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E" sz="1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Best Model:</a:t>
            </a:r>
            <a:r>
              <a:rPr lang="en-IE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The </a:t>
            </a:r>
            <a:r>
              <a:rPr lang="en-IE" sz="1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Random Forest</a:t>
            </a:r>
            <a:r>
              <a:rPr lang="en-IE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algorithm provided the most powerful predictions (AUC: 0.8269).</a:t>
            </a:r>
          </a:p>
          <a:p>
            <a:pPr lvl="0" algn="just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IE" sz="1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STRATEGIC RECOMMENDATIONS</a:t>
            </a:r>
            <a:endParaRPr lang="en-IE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15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E" sz="1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Clinical Deployment:</a:t>
            </a:r>
            <a:r>
              <a:rPr lang="en-IE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</a:t>
            </a:r>
            <a:r>
              <a:rPr lang="en-IE" sz="1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Created and deployed the finalized Random Forest model into a user-friendly </a:t>
            </a:r>
            <a:r>
              <a:rPr lang="en-IE" sz="1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  <a:hlinkClick r:id="rId8"/>
              </a:rPr>
              <a:t>Streamlit dashboard</a:t>
            </a:r>
            <a:r>
              <a:rPr lang="en-IE" sz="1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  <a:r>
              <a:rPr lang="en-IE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This will allow healthcare professionals to input patient data and receive an immediate, evidence-based heart disease risk score.</a:t>
            </a:r>
          </a:p>
          <a:p>
            <a:pPr marL="342900" lvl="0" indent="-342900" algn="just">
              <a:lnSpc>
                <a:spcPct val="115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E" sz="1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Preventive Health Focus:</a:t>
            </a:r>
            <a:r>
              <a:rPr lang="en-IE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Public health initiatives should prioritize managing conditions like diabetes and hypertension, and promoting physical activity, as these are major, modifiable risk factors.</a:t>
            </a:r>
          </a:p>
          <a:p>
            <a:pPr marL="342900" lvl="0" indent="-342900" algn="just">
              <a:lnSpc>
                <a:spcPct val="115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E" sz="1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Screening Programs:</a:t>
            </a:r>
            <a:r>
              <a:rPr lang="en-IE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The model can be integrated into routine health screenings to flag high-risk patients for further diagnostic testing, enabling earlier intervention.</a:t>
            </a:r>
          </a:p>
        </p:txBody>
      </p:sp>
      <p:pic>
        <p:nvPicPr>
          <p:cNvPr id="14" name="Picture 13" descr="A heart with a pulse line&#10;&#10;AI-generated content may be incorrect.">
            <a:extLst>
              <a:ext uri="{FF2B5EF4-FFF2-40B4-BE49-F238E27FC236}">
                <a16:creationId xmlns:a16="http://schemas.microsoft.com/office/drawing/2014/main" id="{B60D7BCD-6DB6-378A-FBA0-248276476D9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95000" y="1770413"/>
            <a:ext cx="4493260" cy="4493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557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3859</TotalTime>
  <Words>1588</Words>
  <Application>Microsoft Office PowerPoint</Application>
  <PresentationFormat>Widescreen</PresentationFormat>
  <Paragraphs>250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Aptos</vt:lpstr>
      <vt:lpstr>Arial</vt:lpstr>
      <vt:lpstr>Avenir Next LT Pro Demi</vt:lpstr>
      <vt:lpstr>Century Gothic</vt:lpstr>
      <vt:lpstr>LEMON MILK Medium</vt:lpstr>
      <vt:lpstr>quote-cjk-patch</vt:lpstr>
      <vt:lpstr>Symbol</vt:lpstr>
      <vt:lpstr>ui-sans-serif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William Phiri</cp:lastModifiedBy>
  <cp:revision>2</cp:revision>
  <dcterms:created xsi:type="dcterms:W3CDTF">2025-10-26T13:42:36Z</dcterms:created>
  <dcterms:modified xsi:type="dcterms:W3CDTF">2025-11-09T20:51:24Z</dcterms:modified>
</cp:coreProperties>
</file>